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PROPOSTA COMERCIAL | SPIN GAMING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37160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JUNHO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EC537"/>
                </a:solidFill>
                <a:latin typeface="Arial"/>
              </a:rPr>
              <a:t>MESAS DEDICADAS PARA VAI DE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Projeto exclusivo para acelerar GGR, engajamento e reconhecimento de marca no Live Casino.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JOGUE COM RESPONSABILIDADE AUTORIZADA PELA PORTARIA SPA/MF N. 668</a:t>
            </a:r>
          </a:p>
        </p:txBody>
      </p:sp>
      <p:pic>
        <p:nvPicPr>
          <p:cNvPr id="9" name="Picture 8" descr="logo_black_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371600"/>
            <a:ext cx="36576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DESAFIO E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37160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VAI DE BET + SPIN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EC537"/>
                </a:solidFill>
                <a:latin typeface="Arial"/>
              </a:rPr>
              <a:t>Por que este projeto e estrategico para a Vai de 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- Criar mesas exclusivas com identidade da Vai de Bet e operacao 24/7.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- Transformar dealers em canal de comunicacao e reforco de campanhas.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- Controlar resultado de ponta a ponta com dashboards diarios, semanais e mensais.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- Aumentar proximidade entre operadora e provedora com monitoria presencial.</a:t>
            </a:r>
          </a:p>
        </p:txBody>
      </p:sp>
      <p:pic>
        <p:nvPicPr>
          <p:cNvPr id="10" name="Picture 9" descr="logo_yellow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A PROPOSTA DE VALOR SPIN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37160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5 PILARES COMPETITIVOS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6766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EC537"/>
                </a:solidFill>
                <a:latin typeface="Arial"/>
              </a:rPr>
              <a:t>A melhor opcao em mesas dedicadas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286000" cy="438912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EC537"/>
                </a:solidFill>
                <a:latin typeface="Arial"/>
              </a:rPr>
              <a:t>Dealers Dedicados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743200"/>
            <a:ext cx="1975104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Time exclusivo para a Vai de Bet, com rotina, escala e rotacao por mesa.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828800"/>
            <a:ext cx="2286000" cy="438912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01168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EC537"/>
                </a:solidFill>
                <a:latin typeface="Arial"/>
              </a:rPr>
              <a:t>Casting Dealers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743200"/>
            <a:ext cx="1975104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Gestao de elenco com performance mensal, ajustes de roteiro e promocoes.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828800"/>
            <a:ext cx="2286000" cy="438912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2664" y="201168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EC537"/>
                </a:solidFill>
                <a:latin typeface="Arial"/>
              </a:rPr>
              <a:t>Dashboard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743200"/>
            <a:ext cx="1975104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Acompanhamento completo de GGR, Turnover, UAP, Margem e ARPU.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34656" y="1828800"/>
            <a:ext cx="2286000" cy="438912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71816" y="201168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EC537"/>
                </a:solidFill>
                <a:latin typeface="Arial"/>
              </a:rPr>
              <a:t>Dashboard Influenciadores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743200"/>
            <a:ext cx="1975104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Leitura de campanha por live: agenda, FTDs, volume, canal e views.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93808" y="1828800"/>
            <a:ext cx="2286000" cy="438912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0968" y="201168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EC537"/>
                </a:solidFill>
                <a:latin typeface="Arial"/>
              </a:rPr>
              <a:t>Proximidade sem igual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743200"/>
            <a:ext cx="1975104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Espaco fisico aberto para operacao diaria, eventos e relacionamento premium.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1. DEALERS DEDICADOS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37160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OPERACAO EXCLUSIVA VAI DE BET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EC537"/>
                </a:solidFill>
                <a:latin typeface="Arial"/>
              </a:rPr>
              <a:t>Dealers que atuam somente na Vai de 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- Escala personalizada por turno e por jogo.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- Rotacao de mesas para manter energia e consistencia.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45535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- Treinamento orientado para tom de voz da marca.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03903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- Roteiro ativo com foco em engajamento e seguranca.</a:t>
            </a:r>
          </a:p>
        </p:txBody>
      </p:sp>
      <p:pic>
        <p:nvPicPr>
          <p:cNvPr id="10" name="Picture 9" descr="casting_vaidebet_per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50292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2. CASTING DEALERS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37160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DASHBOARD DE ELENCO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EC537"/>
                </a:solidFill>
                <a:latin typeface="Arial"/>
              </a:rPr>
              <a:t>Gestao de elenco e performance em um unico painel</a:t>
            </a:r>
          </a:p>
        </p:txBody>
      </p:sp>
      <p:pic>
        <p:nvPicPr>
          <p:cNvPr id="6" name="Picture 5" descr="casting_vaidebe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9728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Filtros por turno, jogo e perfil + indicadores para acao rapida do time comercial.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3. ROTEIRO PERSONALIZADO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37160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COMUNICACAO CONSISTENTE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EC537"/>
                </a:solidFill>
                <a:latin typeface="Arial"/>
              </a:rPr>
              <a:t>Dealer como canal de comunicacao da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Atualize aberturas, promocoes e scripts de mesa em tempo real para manter a campanha alinhada.</a:t>
            </a:r>
          </a:p>
        </p:txBody>
      </p:sp>
      <p:pic>
        <p:nvPicPr>
          <p:cNvPr id="7" name="Picture 6" descr="casting_vaidebet_rotei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109728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4. DASHBOARD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37160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GESTAO DIARIA, SEMANAL E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EC537"/>
                </a:solidFill>
                <a:latin typeface="Arial"/>
              </a:rPr>
              <a:t>Inteligencia de resultado para tomada de decisao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463040" cy="914400"/>
          </a:xfrm>
          <a:prstGeom prst="roundRect">
            <a:avLst/>
          </a:prstGeom>
          <a:solidFill>
            <a:srgbClr val="253244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84248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EC537"/>
                </a:solidFill>
                <a:latin typeface="Arial"/>
              </a:rPr>
              <a:t>GGR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13432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Acompanhar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828800"/>
            <a:ext cx="1463040" cy="914400"/>
          </a:xfrm>
          <a:prstGeom prst="roundRect">
            <a:avLst/>
          </a:prstGeom>
          <a:solidFill>
            <a:srgbClr val="253244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1984248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EC537"/>
                </a:solidFill>
                <a:latin typeface="Arial"/>
              </a:rPr>
              <a:t>TURNOVER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2" y="2313432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Acompanhar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828800"/>
            <a:ext cx="1463040" cy="914400"/>
          </a:xfrm>
          <a:prstGeom prst="roundRect">
            <a:avLst/>
          </a:prstGeom>
          <a:solidFill>
            <a:srgbClr val="253244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6512" y="1984248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EC537"/>
                </a:solidFill>
                <a:latin typeface="Arial"/>
              </a:rPr>
              <a:t>UAP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2313432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Acompanhar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828800"/>
            <a:ext cx="1463040" cy="914400"/>
          </a:xfrm>
          <a:prstGeom prst="roundRect">
            <a:avLst/>
          </a:prstGeom>
          <a:solidFill>
            <a:srgbClr val="253244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2" y="1984248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EC537"/>
                </a:solidFill>
                <a:latin typeface="Arial"/>
              </a:rPr>
              <a:t>MARGEM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2" y="2313432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Acompanhar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828800"/>
            <a:ext cx="1463040" cy="914400"/>
          </a:xfrm>
          <a:prstGeom prst="roundRect">
            <a:avLst/>
          </a:prstGeom>
          <a:solidFill>
            <a:srgbClr val="253244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8352" y="1984248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EC537"/>
                </a:solidFill>
                <a:latin typeface="Arial"/>
              </a:rPr>
              <a:t>QTD APOSTAS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2313432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Acompanhar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828800"/>
            <a:ext cx="1463040" cy="914400"/>
          </a:xfrm>
          <a:prstGeom prst="roundRect">
            <a:avLst/>
          </a:prstGeom>
          <a:solidFill>
            <a:srgbClr val="253244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984248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EC537"/>
                </a:solidFill>
                <a:latin typeface="Arial"/>
              </a:rPr>
              <a:t>MEDIA APOSTAS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313432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Acompanhar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7040" y="1828800"/>
            <a:ext cx="1463040" cy="914400"/>
          </a:xfrm>
          <a:prstGeom prst="roundRect">
            <a:avLst/>
          </a:prstGeom>
          <a:solidFill>
            <a:srgbClr val="253244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80192" y="1984248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EC537"/>
                </a:solidFill>
                <a:latin typeface="Arial"/>
              </a:rPr>
              <a:t>ARPU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80192" y="2313432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Acompanhar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00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rial"/>
              </a:rPr>
              <a:t>Com a leitura consolidada, a Spin e a Vai de Bet ajustam escala, roteiro e ativacao para acelerar crescimento com eficiencia.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EC537"/>
                </a:solidFill>
                <a:latin typeface="Arial"/>
              </a:rPr>
              <a:t>Ciclos de report: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5720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Diario | Semanal | Mensal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3611880" cy="109728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4864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EC537"/>
                </a:solidFill>
                <a:latin typeface="Arial"/>
              </a:rPr>
              <a:t>DIA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Leitura de base e comportamento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5303520"/>
            <a:ext cx="3611880" cy="109728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54864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EC537"/>
                </a:solidFill>
                <a:latin typeface="Arial"/>
              </a:rPr>
              <a:t>DIA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760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Ajuste fino de turno e promocao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5303520"/>
            <a:ext cx="3611880" cy="109728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54864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EC537"/>
                </a:solidFill>
                <a:latin typeface="Arial"/>
              </a:rPr>
              <a:t>DIA 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760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Plano de escala para ganho de margem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5. DASHBOARD DE INFLUENCIADORES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37160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PERFORMANCE DE CAMPANHAS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EC537"/>
                </a:solidFill>
                <a:latin typeface="Arial"/>
              </a:rPr>
              <a:t>Campanhas de live com leitura completa de conversao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657600" cy="100584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EC537"/>
                </a:solidFill>
                <a:latin typeface="Arial"/>
              </a:rPr>
              <a:t>AGENDA DE LIVES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Indicador estrategico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657600" cy="100584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EC537"/>
                </a:solidFill>
                <a:latin typeface="Arial"/>
              </a:rPr>
              <a:t>PERFORMANCE DA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591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Indicador estrategico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3657600" cy="100584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2011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EC537"/>
                </a:solidFill>
                <a:latin typeface="Arial"/>
              </a:rPr>
              <a:t>FTDS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3591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Indicador estrategico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3657600" cy="100584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EC537"/>
                </a:solidFill>
                <a:latin typeface="Arial"/>
              </a:rPr>
              <a:t>VOLUME FINANCEIRO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9359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Indicador estrategico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063240"/>
            <a:ext cx="3657600" cy="100584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2461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EC537"/>
                </a:solidFill>
                <a:latin typeface="Arial"/>
              </a:rPr>
              <a:t>CANAL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59359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Indicador estrategico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063240"/>
            <a:ext cx="3657600" cy="100584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32461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EC537"/>
                </a:solidFill>
                <a:latin typeface="Arial"/>
              </a:rPr>
              <a:t>NUMERO DE 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59359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Indicador estrategico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Visao integrada para decidir quais creators escalar, quais formatos repetir e como converter audiencia em deposito.</a:t>
            </a:r>
          </a:p>
        </p:txBody>
      </p:sp>
      <p:sp>
        <p:nvSpPr>
          <p:cNvPr id="25" name="Chevron 24"/>
          <p:cNvSpPr/>
          <p:nvPr/>
        </p:nvSpPr>
        <p:spPr>
          <a:xfrm>
            <a:off x="8778240" y="5120640"/>
            <a:ext cx="2743200" cy="1097280"/>
          </a:xfrm>
          <a:prstGeom prst="chevron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54406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ESCALA DE ROI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PROXIMIDADE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37160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ESTRUTURA ABERTA PARA A OPERADORA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EC537"/>
                </a:solidFill>
                <a:latin typeface="Arial"/>
              </a:rPr>
              <a:t>Presenca diaria da Vai de Bet dentro da operacao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82296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Acompanhamento in loco da rotina de mesas e dealers.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972800" cy="82296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54096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Correcao rapida de oportunidades e reforco de boas praticas.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972800" cy="82296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59936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Espaco para eventos de marca: pre-lancamento, pos-lancamento e high rollers.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972800" cy="82296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65776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Comite conjunto Spin + Vai de Bet para evolucao continua.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EC537"/>
                </a:solidFill>
                <a:latin typeface="Arial"/>
              </a:rPr>
              <a:t>MODELO DE RELACIONAMENTO: SPIN COMO EXTENSAO DO TIME VAI DE BET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IMPLEMENTACAO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37160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GO LIVE EM ATE 60 DIAS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300" b="1">
                <a:solidFill>
                  <a:srgbClr val="FEC537"/>
                </a:solidFill>
                <a:latin typeface="Arial"/>
              </a:rPr>
              <a:t>Plano de execucao da parceria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972800" cy="91440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6537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EC537"/>
                </a:solidFill>
                <a:latin typeface="Arial"/>
              </a:rPr>
              <a:t>1. Kickoff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7451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Definicao de metas, escopo e prioridades da Vai de Bet.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39"/>
            <a:ext cx="10972800" cy="91440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6265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EC537"/>
                </a:solidFill>
                <a:latin typeface="Arial"/>
              </a:rPr>
              <a:t>2. Design e Branding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97179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Ajuste cenografico, scripts e identidade visual das mesas.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972800" cy="91440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5993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EC537"/>
                </a:solidFill>
                <a:latin typeface="Arial"/>
              </a:rPr>
              <a:t>3. Selecao de Dealers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069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Casting, treinamento e validacao do elenco dedicado.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972800" cy="91440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572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EC537"/>
                </a:solidFill>
                <a:latin typeface="Arial"/>
              </a:rPr>
              <a:t>4. Go Live + Otimizacao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166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Inicio da operacao com monitoria continua de KPIs.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5760720"/>
            <a:ext cx="2926080" cy="731520"/>
          </a:xfrm>
          <a:prstGeom prst="round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596188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OPERACAO 24/7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E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PROXIMOS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37160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VAI DE BET + SPIN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EC537"/>
                </a:solidFill>
                <a:latin typeface="Arial"/>
              </a:rPr>
              <a:t>Vamos colocar a mesa dedicada no 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788920" cy="210312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24612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Validacao comercial da proposta.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743200"/>
            <a:ext cx="2788920" cy="210312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324612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Ajustes finais de branding e roteiro.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743200"/>
            <a:ext cx="2788920" cy="210312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324612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Definicao conjunta do cronograma de implementacao.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743200"/>
            <a:ext cx="2788920" cy="2103120"/>
          </a:xfrm>
          <a:prstGeom prst="roundRect">
            <a:avLst/>
          </a:prstGeom>
          <a:solidFill>
            <a:srgbClr val="1C2330"/>
          </a:solidFill>
          <a:ln>
            <a:solidFill>
              <a:srgbClr val="FEC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65208" y="324612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Kickoff operacional e inicio das ativacoes.</a:t>
            </a:r>
          </a:p>
        </p:txBody>
      </p:sp>
      <p:pic>
        <p:nvPicPr>
          <p:cNvPr id="14" name="Picture 13" descr="logo_whit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5303520"/>
            <a:ext cx="3474720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0352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EC537"/>
                </a:solidFill>
                <a:latin typeface="Arial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