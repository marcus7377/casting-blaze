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PROPOSTA ESTRATEGICA  | 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Casting de Influencer Dealer para Blaze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D1C1C9"/>
                </a:solidFill>
                <a:latin typeface="Montserrat"/>
              </a:defRPr>
            </a:pPr>
            <a:r>
              <a:t>Como converter alcance em UAPI, depositos e maior volume de apostas nas mesas da Spin Gaming.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77440"/>
            <a:ext cx="5623560" cy="25603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42032"/>
            <a:ext cx="5257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Objetivo da proposta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990088"/>
            <a:ext cx="5184648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Escalar para Blaze o formato de influenciador atuando como dealer ao vivo.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Replicar e superar o case de quase 1 milhao de views ja validado pela Spin.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Acoplar campanha de cashback de 10% para acelerar reativacao e recorrencia.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377440"/>
            <a:ext cx="5303520" cy="25603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42032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Tese central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990088"/>
            <a:ext cx="4864608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Influencer dealer aumenta autenticidade percebida e tempo de sessao.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Cashback reduz aversao a perda e mantem jogador ativo na jornada.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Combinacao eleva UAPI, depositares recorrentes e turnover de mesa.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3276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D1C1C9"/>
                </a:solidFill>
                <a:latin typeface="Montserrat"/>
              </a:defRPr>
            </a:pPr>
            <a:r>
              <a:t>Documento de trabalho comercial | Spin Gaming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CONTEXTO DE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O Brasil entrou na fase de consolidacao e guerra por retencao.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852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2000">
                <a:solidFill>
                  <a:srgbClr val="F5F5F5"/>
                </a:solidFill>
                <a:latin typeface="Montserrat"/>
              </a:defRPr>
            </a:pPr>
            <a:r>
              <a:t>25,2 milhoes de apostadores unicos (CPF) no mercado regulado em 2025.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2000">
                <a:solidFill>
                  <a:srgbClr val="F5F5F5"/>
                </a:solidFill>
                <a:latin typeface="Montserrat"/>
              </a:defRPr>
            </a:pPr>
            <a:r>
              <a:t>R$37 bi de GGR em 2025 no primeiro ano completo de regulacao.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2000">
                <a:solidFill>
                  <a:srgbClr val="F5F5F5"/>
                </a:solidFill>
                <a:latin typeface="Montserrat"/>
              </a:defRPr>
            </a:pPr>
            <a:r>
              <a:t>Mais de 100 milhoes de contas registradas, indicando forte multihoming.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2000">
                <a:solidFill>
                  <a:srgbClr val="F5F5F5"/>
                </a:solidFill>
                <a:latin typeface="Montserrat"/>
              </a:defRPr>
            </a:pPr>
            <a:r>
              <a:t>Em mercados competitivos, diferencial de produto e experiencia passa a decidir share de wallet.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874519"/>
            <a:ext cx="4754880" cy="320040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039111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Implicacao para a Blaze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2487167"/>
            <a:ext cx="4315968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Nao basta aquisicao: precisa criar razao recorrente para voltar.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Live Casino com creator conhecido gera memorabilidade da marca.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Promocao inteligente (cashback) protege margem e sustenta frequencia.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636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D1C1C9"/>
                </a:solidFill>
                <a:latin typeface="Montserrat"/>
              </a:defRPr>
            </a:pPr>
            <a:r>
              <a:t>Fontes: SPA/MF (2026), InterGame (jan/2026), SBC Noticias (jan/2026).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PROVA DE CONCEITO SPIN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A acao com influenciador dealer ja mostrou tracao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657600" cy="1965960"/>
          </a:xfrm>
          <a:prstGeom prst="roundRect">
            <a:avLst/>
          </a:prstGeom>
          <a:solidFill>
            <a:srgbClr val="1E0819"/>
          </a:solidFill>
          <a:ln w="22860">
            <a:solidFill>
              <a:srgbClr val="FF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2286000" y="2377440"/>
            <a:ext cx="457200" cy="384048"/>
          </a:xfrm>
          <a:prstGeom prst="triangle">
            <a:avLst/>
          </a:prstGeom>
          <a:solidFill>
            <a:srgbClr val="FF2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33284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5F5"/>
                </a:solidFill>
                <a:latin typeface="Montserrat"/>
              </a:defRPr>
            </a:pPr>
            <a:r>
              <a:t>Video 1 - Massao como dealer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64408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D1C1C9"/>
                </a:solidFill>
                <a:latin typeface="Montserrat"/>
              </a:defRPr>
            </a:pPr>
            <a:r>
              <a:t>Inserir video anexado pela equipe Spin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657600" cy="1965960"/>
          </a:xfrm>
          <a:prstGeom prst="roundRect">
            <a:avLst/>
          </a:prstGeom>
          <a:solidFill>
            <a:srgbClr val="1E0819"/>
          </a:solidFill>
          <a:ln w="22860">
            <a:solidFill>
              <a:srgbClr val="FF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6126480" y="2377440"/>
            <a:ext cx="457200" cy="384048"/>
          </a:xfrm>
          <a:prstGeom prst="triangle">
            <a:avLst/>
          </a:prstGeom>
          <a:solidFill>
            <a:srgbClr val="FF2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880360"/>
            <a:ext cx="33284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5F5"/>
                </a:solidFill>
                <a:latin typeface="Montserrat"/>
              </a:defRPr>
            </a:pPr>
            <a:r>
              <a:t>Video 2 - Massao como dealer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264408"/>
            <a:ext cx="33284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D1C1C9"/>
                </a:solidFill>
                <a:latin typeface="Montserrat"/>
              </a:defRPr>
            </a:pPr>
            <a:r>
              <a:t>Inserir video anexado pela equipe Spin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154680" cy="1965960"/>
          </a:xfrm>
          <a:prstGeom prst="roundRect">
            <a:avLst/>
          </a:prstGeom>
          <a:solidFill>
            <a:srgbClr val="1E0819"/>
          </a:solidFill>
          <a:ln w="22860">
            <a:solidFill>
              <a:srgbClr val="FF2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5400000">
            <a:off x="9715500" y="2377440"/>
            <a:ext cx="457200" cy="384048"/>
          </a:xfrm>
          <a:prstGeom prst="triangle">
            <a:avLst/>
          </a:prstGeom>
          <a:solidFill>
            <a:srgbClr val="FF2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880360"/>
            <a:ext cx="28254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5F5F5"/>
                </a:solidFill>
                <a:latin typeface="Montserrat"/>
              </a:defRPr>
            </a:pPr>
            <a:r>
              <a:t>Print do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3264408"/>
            <a:ext cx="2825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D1C1C9"/>
                </a:solidFill>
                <a:latin typeface="Montserrat"/>
              </a:defRPr>
            </a:pPr>
            <a:r>
              <a:t>Acao com quase 1 milhao de visualizacoes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69080"/>
            <a:ext cx="11155680" cy="18288"/>
          </a:xfrm>
          <a:prstGeom prst="rect">
            <a:avLst/>
          </a:prstGeom>
          <a:solidFill>
            <a:srgbClr val="703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97680"/>
            <a:ext cx="109728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F5F5F5"/>
                </a:solidFill>
                <a:latin typeface="Montserrat"/>
              </a:defRPr>
            </a:pPr>
            <a:r>
              <a:t>Quase 1 milhao de views confirma potencial de alcance + conversa social.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F5F5F5"/>
                </a:solidFill>
                <a:latin typeface="Montserrat"/>
              </a:defRPr>
            </a:pPr>
            <a:r>
              <a:t>Formato aproxima entretenimento e experiencia de mesa real.</a:t>
            </a:r>
          </a:p>
          <a:p>
            <a:pPr>
              <a:lnSpc>
                <a:spcPct val="112000"/>
              </a:lnSpc>
              <a:spcAft>
                <a:spcPts val="800"/>
              </a:spcAft>
              <a:defRPr sz="1700">
                <a:solidFill>
                  <a:srgbClr val="F5F5F5"/>
                </a:solidFill>
                <a:latin typeface="Montserrat"/>
              </a:defRPr>
            </a:pPr>
            <a:r>
              <a:t>Para Blaze, o ganho vem da conversao desse alcance em jogadores autenticos ativos (UAPI).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MOTOR DE CRESCIMENTO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Por que o influenciador dealer aumenta UAPI e depositos.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365760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1) Credibilidade transferida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2441448"/>
            <a:ext cx="321868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A comunidade ja confia no creator.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Essa confianca reduz friccao de primeiro deposito.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Jogador entra por afinidade, nao apenas por bonus.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65760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93392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2) Conteudo com prova social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441448"/>
            <a:ext cx="321868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Clipes da mesa geram FOMO e comentario em tempo real.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Momentos de ganho e reacao elevam taxa de compartilhamento.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Cada sessao alimenta novo topo de funil organico.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828800"/>
            <a:ext cx="333756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993392"/>
            <a:ext cx="2971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3) Jornada mais longa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2441448"/>
            <a:ext cx="289864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Live aumenta tempo de permanencia.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Sessao mais longa costuma elevar total apostado.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Recorrencia cria base de apostador autentico.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ARQUITETURA DE RESULTADO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Modelo UAPI: do alcance qualificado ao volume de apostas.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2D66"/>
                </a:solidFill>
                <a:latin typeface="Montserrat"/>
              </a:defRPr>
            </a:pPr>
            <a:r>
              <a:t>FUNIL PROPOSTO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2148840" cy="2468880"/>
          </a:xfrm>
          <a:prstGeom prst="roundRect">
            <a:avLst/>
          </a:prstGeom>
          <a:solidFill>
            <a:srgbClr val="2A0A22"/>
          </a:solidFill>
          <a:ln w="1524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95728"/>
            <a:ext cx="192938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ALCANCE QUALIFICADO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26080"/>
            <a:ext cx="189280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5F5F5"/>
                </a:solidFill>
                <a:latin typeface="Montserrat"/>
              </a:defRPr>
            </a:pPr>
            <a:r>
              <a:t>Audiencia do influencer com afinidade em jogo.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98648" y="3246120"/>
            <a:ext cx="182880" cy="457200"/>
          </a:xfrm>
          <a:prstGeom prst="rightArrow">
            <a:avLst/>
          </a:prstGeom>
          <a:solidFill>
            <a:srgbClr val="FF2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60" y="2286000"/>
            <a:ext cx="2148840" cy="2468880"/>
          </a:xfrm>
          <a:prstGeom prst="roundRect">
            <a:avLst/>
          </a:prstGeom>
          <a:solidFill>
            <a:srgbClr val="2A0A22"/>
          </a:solidFill>
          <a:ln w="1524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2395728"/>
            <a:ext cx="192938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UAPI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2926080"/>
            <a:ext cx="189280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5F5F5"/>
                </a:solidFill>
                <a:latin typeface="Montserrat"/>
              </a:defRPr>
            </a:pPr>
            <a:r>
              <a:t>Entrada de jogadores autenticos com intencao real de jogar.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76088" y="3246120"/>
            <a:ext cx="182880" cy="457200"/>
          </a:xfrm>
          <a:prstGeom prst="rightArrow">
            <a:avLst/>
          </a:prstGeom>
          <a:solidFill>
            <a:srgbClr val="FF2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0" y="2286000"/>
            <a:ext cx="2148840" cy="2468880"/>
          </a:xfrm>
          <a:prstGeom prst="roundRect">
            <a:avLst/>
          </a:prstGeom>
          <a:solidFill>
            <a:srgbClr val="2A0A22"/>
          </a:solidFill>
          <a:ln w="1524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2395728"/>
            <a:ext cx="192938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1o DEPOSITO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4416" y="2926080"/>
            <a:ext cx="189280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5F5F5"/>
                </a:solidFill>
                <a:latin typeface="Montserrat"/>
              </a:defRPr>
            </a:pPr>
            <a:r>
              <a:t>Conversao em deposito inicial durante janela quente de interesse.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653528" y="3246120"/>
            <a:ext cx="182880" cy="457200"/>
          </a:xfrm>
          <a:prstGeom prst="rightArrow">
            <a:avLst/>
          </a:prstGeom>
          <a:solidFill>
            <a:srgbClr val="FF2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0" y="2286000"/>
            <a:ext cx="2148840" cy="2468880"/>
          </a:xfrm>
          <a:prstGeom prst="roundRect">
            <a:avLst/>
          </a:prstGeom>
          <a:solidFill>
            <a:srgbClr val="2A0A22"/>
          </a:solidFill>
          <a:ln w="1524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2395728"/>
            <a:ext cx="192938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RECORRENCIA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1856" y="2926080"/>
            <a:ext cx="189280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5F5F5"/>
                </a:solidFill>
                <a:latin typeface="Montserrat"/>
              </a:defRPr>
            </a:pPr>
            <a:r>
              <a:t>Retorno em multiplas sessoes por conexao com o formato.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030968" y="3246120"/>
            <a:ext cx="182880" cy="457200"/>
          </a:xfrm>
          <a:prstGeom prst="rightArrow">
            <a:avLst/>
          </a:prstGeom>
          <a:solidFill>
            <a:srgbClr val="FF2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41280" y="2286000"/>
            <a:ext cx="2148840" cy="2468880"/>
          </a:xfrm>
          <a:prstGeom prst="roundRect">
            <a:avLst/>
          </a:prstGeom>
          <a:solidFill>
            <a:srgbClr val="2A0A22"/>
          </a:solidFill>
          <a:ln w="1524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1008" y="2395728"/>
            <a:ext cx="192938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9296" y="2926080"/>
            <a:ext cx="189280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F5F5F5"/>
                </a:solidFill>
                <a:latin typeface="Montserrat"/>
              </a:defRPr>
            </a:pPr>
            <a:r>
              <a:t>Aumento do turnover total das mesas Spin na Blaze.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778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1C1C9"/>
                </a:solidFill>
                <a:latin typeface="Montserrat"/>
              </a:defRPr>
            </a:pPr>
            <a:r>
              <a:t>Metrica principal sugerida: UAPI 30d = novos jogadores com 2+ sessoes e 2+ depositos em ate 30 dias.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FORMATO PROPOSTO PARA BLAZE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Casting de influencer dealer em temporadas curtas e escalaveis.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40680" cy="338328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5074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Design da temporada piloto (8 semanas)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5001768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2 lives por semana com influencer dealer (90 min por sessao).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Quadro fixo de agenda: Dia A (aquecimento) + Dia B (mesa principal).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Drops de conteudo curto (reels/cortes) em ate 24h apos cada live.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Landing de campanha com CTA direto para mesas Spin na Blaze.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212080" cy="338328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Governanca de marca e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441448"/>
            <a:ext cx="4773168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Roteiro aprovado previamente por Blaze + Spin.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Mensagens claras de jogo responsavel e 18+ em todas as pecas.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Moderacao de chat e politica de conduta durante as transmissoes.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Modelo replicavel para novos creators apos validacao inicial.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METAS E MENSURACAO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KPI framework para provar impacto em negocio.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6616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Topo de funil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312724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Views qualificadas dos conteudos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CTR para landing da campanha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Taxa de cadastro originada do creator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56616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9339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Conversao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441448"/>
            <a:ext cx="312724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1o deposito (FTD) vindo da campanha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Custo por FTD autenticado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UAPI 30d e UAPI 60d por coorte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29184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93392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Monetizacao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441448"/>
            <a:ext cx="285292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Volume apostado por mesa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Depositos por jogador ativo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NGR incremental apos custo promo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D1C1C9"/>
                </a:solidFill>
                <a:latin typeface="Montserrat"/>
              </a:defRPr>
            </a:pPr>
            <a:r>
              <a:t>Recomendacao: painel semanal com leitura por coorte e comparativo versus baseline de mesas.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PROGRAMA DE CASHBACK PARA MESAS SPIN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Oferta inicial: 10% de cashback para perdas liquidas elegiveis.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486400" cy="356616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Mecanica sugerida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5047488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Cashback semanal de 10% sobre perda liquida em mesas Spin na Blaze.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Janela de apuracao: seg 00:00 ate dom 23:59 (horario BR).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Credito em bonus com rollover baixo (1x a 5x) para incentivar retorno.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Teto por jogador e gatilho minimo de perda para proteger margem.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Elegibilidade priorizando UAPI e jogadores com sinal de churn.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120640" cy="356616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Por que encaixa bem com live casino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2441448"/>
            <a:ext cx="4681728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Reduz impacto emocional de uma sessao negativa.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Gera motivo claro para voltar na semana seguinte.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Aumenta recorrencia sem canibalizar premio principal da mesa.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Permite personalizacao por segmento (novo, recorrente, VIP).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NARRATIVA FAVORAVEL COM BASE NO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Campanhas de retencao com incentivo recorrente geram reengajamento mensuravel.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94960" cy="356616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Benchmarks relevantes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4956048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Cashback no iGaming costuma operar entre 5% e 20% por segmento.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Apostemos (LatAm, Sportradar/VAIX): 85% de reengajamento em jogadores frequentes alvo.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Funstage (Greentube): +199,4% em LTV apos otimizar campanhas CRM.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Kwiff: crescimento de base com melhora simultanea em retencao.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166360" cy="356616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Leitura para Blaze + Spin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441448"/>
            <a:ext cx="4727448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Nao e sobre desconto agressivo, e sobre reduzir churn e elevar valor de ciclo.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Cashback de 10% como ponto de partida preserva margem e aprendizado.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Com dados de coorte, a oferta pode virar alavanca de NGR incremental.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Influencer dealer + cashback cria loop de retorno semanal previsivel.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D1C1C9"/>
                </a:solidFill>
                <a:latin typeface="Montserrat"/>
              </a:defRPr>
            </a:pPr>
            <a:r>
              <a:t>Fontes: Track360 (glossario iGaming), iGamingToday (Apostemos/VAIX), Xtremepush (cases CRM).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SIMULACAO DE IMPACTO (EXEMPLO ILUSTRATIVO)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Combinacao creator dealer + cashback melhora retorno da coorte.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61188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Cenario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317296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100 UAPI gerados no ciclo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Deposito medio: R$ 170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Volume medio por UAPI: R$ 1.050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Retencao 30d: 22%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61188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93392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Com influencer dealer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441448"/>
            <a:ext cx="317296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UAPI +25% via prova social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Deposito medio +12%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Volume por UAPI +18%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Retencao 30d +6 p.p.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15468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93392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Com cashback 10%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441448"/>
            <a:ext cx="271576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Retorno de churners elegiveis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Mais sessoes por jogador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Maior previsibilidade de receita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Meta: NGR incr. apos promo &gt;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D1C1C9"/>
                </a:solidFill>
                <a:latin typeface="Montserrat"/>
              </a:defRPr>
            </a:pPr>
            <a:r>
              <a:t>Observacao: numeros servem como estrutura de modelagem; calibrar com base real da Blaze (coortes, hold e custo promocional).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CONTROLES PARA ESCALAR COM SEGURANCA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Cashback eficiente depende de regra clara, antifraude e segmentacao.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6616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Regras de produto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312724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Perda liquida minima para ativar cashback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Teto maximo por CPF por semana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Exclusao de contas com perfil de abuso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56616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93392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Protecao de margem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441448"/>
            <a:ext cx="312724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Acompanhar NGR liquido por segmento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Hold minimo alvo por mesa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A/B test de percentuais (8%, 10%, 12%)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291840" cy="3474720"/>
          </a:xfrm>
          <a:prstGeom prst="roundRect">
            <a:avLst/>
          </a:prstGeom>
          <a:solidFill>
            <a:srgbClr val="310A23"/>
          </a:solidFill>
          <a:ln w="16510">
            <a:solidFill>
              <a:srgbClr val="C73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93392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2D66"/>
                </a:solidFill>
                <a:latin typeface="Montserrat"/>
              </a:defRPr>
            </a:pPr>
            <a:r>
              <a:t>Compliance e marca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2441448"/>
            <a:ext cx="2852928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Termos transparentes da campanha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Jogo responsavel em todas as pecas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F5F5F5"/>
                </a:solidFill>
                <a:latin typeface="Montserrat"/>
              </a:defRPr>
            </a:pPr>
            <a:r>
              <a:t>Governanca conjunta Blaze + Spin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0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F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651760" cy="6858000"/>
          </a:xfrm>
          <a:prstGeom prst="rect">
            <a:avLst/>
          </a:prstGeom>
          <a:solidFill>
            <a:srgbClr val="960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13970">
            <a:solidFill>
              <a:srgbClr val="6F3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2D66"/>
                </a:solidFill>
                <a:latin typeface="Montserrat"/>
              </a:defRPr>
            </a:pPr>
            <a:r>
              <a:t>PROXIMO PASSO RECOMENDADO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5F5"/>
                </a:solidFill>
                <a:latin typeface="Montserrat"/>
              </a:defRPr>
            </a:pPr>
            <a:r>
              <a:t>Pilotar, medir e escalar.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89720" y="3657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5F5F5"/>
                </a:solidFill>
                <a:latin typeface="Montserrat"/>
              </a:defRPr>
            </a:pPr>
            <a:r>
              <a:t>SPIN GAMING  x  BLAZE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F5F5F5"/>
                </a:solidFill>
                <a:latin typeface="Montserrat"/>
              </a:defRPr>
            </a:pPr>
            <a:r>
              <a:t>1) Kick-off comercial Blaze + Spin para validar escopo criativo da temporada.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F5F5F5"/>
                </a:solidFill>
                <a:latin typeface="Montserrat"/>
              </a:defRPr>
            </a:pPr>
            <a:r>
              <a:t>2) Definicao final da mecanica de cashback 10% e regras de elegibilidade.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F5F5F5"/>
                </a:solidFill>
                <a:latin typeface="Montserrat"/>
              </a:defRPr>
            </a:pPr>
            <a:r>
              <a:t>3) Setup de tracking unico (conteudo -&gt; cadastro -&gt; deposito -&gt; UAPI -&gt; volume).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F5F5F5"/>
                </a:solidFill>
                <a:latin typeface="Montserrat"/>
              </a:defRPr>
            </a:pPr>
            <a:r>
              <a:t>4) Go-live do piloto e leitura semanal dos KPIs com ajustes taticos.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300">
                <a:solidFill>
                  <a:srgbClr val="F5F5F5"/>
                </a:solidFill>
                <a:latin typeface="Montserrat"/>
              </a:defRPr>
            </a:pPr>
            <a:r>
              <a:t>5) Decisao de escala com base em NGR incremental e custo por UAPI.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0">
                <a:solidFill>
                  <a:srgbClr val="D1C1C9"/>
                </a:solidFill>
                <a:latin typeface="Montserrat"/>
              </a:defRPr>
            </a:pPr>
            <a:r>
              <a:t>Spin Gaming | Proposta comercial proprietaria para Blaze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