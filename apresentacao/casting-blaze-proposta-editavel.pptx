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76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UMA PROPOSTA QUE TRANSFORMA
INFLUÊNCIA EM VOLUME DE JOGO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01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667000"/>
            <a:ext cx="12192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0" b="1" i="0">
                <a:solidFill>
                  <a:srgbClr val="E50E2B"/>
                </a:solidFill>
                <a:latin typeface="Arial Black"/>
              </a:rPr>
              <a:t>blaze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857750"/>
            <a:ext cx="12192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286375"/>
            <a:ext cx="12192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600">
                <a:solidFill>
                  <a:srgbClr val="FFFFFF"/>
                </a:solidFill>
                <a:latin typeface="Arial"/>
              </a:rPr>
              <a:t>INFLUÊNCIA  ·  LIVE CASINO  ·  RETENÇÃO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CONTEXTO DA PROPOSTA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525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POR QUE AGORA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1162050"/>
            <a:ext cx="1905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1333500"/>
            <a:ext cx="5524500" cy="2571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A SPIN JÁ ENTREGA
AS </a:t>
            </a:r>
            <a:r>
              <a:rPr sz="3600" b="1" i="0">
                <a:solidFill>
                  <a:srgbClr val="E50E2B"/>
                </a:solidFill>
                <a:latin typeface="Arial Black"/>
              </a:rPr>
              <a:t>MESAS AO VIVO</a:t>
            </a:r>
            <a:r>
              <a:rPr sz="3600" b="1" i="0">
                <a:solidFill>
                  <a:srgbClr val="FFFFFF"/>
                </a:solidFill>
                <a:latin typeface="Arial Black"/>
              </a:rPr>
              <a:t>
DA BLAZE. AGORA
QUEREMOS LEVAR
TRÁFEGO ATÉ ELAS.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191000"/>
            <a:ext cx="5524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Hoje a Blaze opera com mesas Spin Gaming integradas no lobby. A operação é estável, a tecnologia é nossa, o estúdio é nosso e o treinamento de dealers é feito pela Spin Academy. O próximo passo natural é ativar a base: trazer mais UAP para essas mesas e aumentar a frequência de depósitos.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286375"/>
            <a:ext cx="5524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Esta proposta combina duas alavancas que conversam diretamente com o público brasileiro de cassino ao vivo: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5857875"/>
            <a:ext cx="1905000" cy="266700"/>
          </a:xfrm>
          <a:prstGeom prst="roundRect">
            <a:avLst>
              <a:gd name="adj" fmla="val 50000"/>
            </a:avLst>
          </a:prstGeom>
          <a:solidFill>
            <a:srgbClr val="E50E2B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01 · CASTING BLAZE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09850" y="5857875"/>
            <a:ext cx="2190750" cy="2667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E50E2B"/>
                </a:solidFill>
                <a:latin typeface="Arial"/>
              </a:rPr>
              <a:t>02 · CASHBACK 10% MESAS SPIN</a:t>
            </a:r>
          </a:p>
        </p:txBody>
      </p:sp>
      <p:pic>
        <p:nvPicPr>
          <p:cNvPr id="17" name="Picture 16" descr="mesa-blaze-blackj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333500"/>
            <a:ext cx="4914900" cy="4714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DOIS PILARES, UMA META: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PILARES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03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CASHBACK 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600" y="1143000"/>
            <a:ext cx="5381625" cy="59055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8200" y="1381125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PILAR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1571625"/>
            <a:ext cx="47625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CASTING BLAZE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047875"/>
            <a:ext cx="4857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Treinamos influenciadores reconhecidos pelo público da Blaze na Spin Academy e os colocamos para atuar como dealers oficiais em mesas Spin × Blaze. Eles transmitem em seus próprios canais e direcionam audiência diretamente para o lobby do live casino.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5381625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O QUE ENTREGA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8200" y="567690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90600" y="561975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Aquisição de UAP direto do público do influenciador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200" y="588645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0600" y="582930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Brand love via co-criação com nomes que a base já segue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200" y="609600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90600" y="603885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Conteúdo viral com cortes e clipes orgânicos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200" y="630555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90600" y="624840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Tráfego concentrado em mesa específica → GGR mensurável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0775" y="1143000"/>
            <a:ext cx="5381625" cy="59055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9375" y="1381125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PILAR 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9375" y="1571625"/>
            <a:ext cx="5048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 Black"/>
              </a:rPr>
              <a:t>CASHBACK 10% MESAS SPIN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2047875"/>
            <a:ext cx="4857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Programa de devolução semanal de 10% das perdas líquidas apenas para apostas realizadas nas mesas Spin Gaming dentro da Blaze. Mecânica simples, transparente, sem rollover abusivo e em conformidade com a regulação brasileira de iGaming.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5381625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O QUE ENTREGA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9375" y="567690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1775" y="561975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Retenção +20% a +30% (benchmarks globais)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29375" y="588645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581775" y="582930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Frequência de depósito +18% (case Vegasino · Optimove)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29375" y="609600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1775" y="603885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Ticket médio +25% em jogadores aderentes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29375" y="6305550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1775" y="6248400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Concentração da base ativa nas mesas Spin → mais GGR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PILAR 01 · O CONCEITO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CASTING BLAZE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04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CASHBACK 10%</a:t>
            </a:r>
          </a:p>
        </p:txBody>
      </p:sp>
      <p:pic>
        <p:nvPicPr>
          <p:cNvPr id="12" name="Picture 11" descr="mesa-blaze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43000"/>
            <a:ext cx="5191125" cy="5334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0100" y="1333500"/>
            <a:ext cx="1333500" cy="247650"/>
          </a:xfrm>
          <a:prstGeom prst="roundRect">
            <a:avLst>
              <a:gd name="adj" fmla="val 50000"/>
            </a:avLst>
          </a:prstGeom>
          <a:solidFill>
            <a:srgbClr val="E50E2B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FORMATO INÉDITO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775" y="123825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O CONCEITO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0775" y="1447800"/>
            <a:ext cx="1905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00775" y="1619250"/>
            <a:ext cx="51435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 Black"/>
              </a:rPr>
              <a:t>O INFLUENCIADOR QUE O
JOGADOR JÁ SEGUE,
</a:t>
            </a:r>
            <a:r>
              <a:rPr sz="2800" b="1" i="0">
                <a:solidFill>
                  <a:srgbClr val="E50E2B"/>
                </a:solidFill>
                <a:latin typeface="Arial Black"/>
              </a:rPr>
              <a:t>DENTRO DA MESA</a:t>
            </a:r>
            <a:r>
              <a:rPr sz="2800" b="1" i="0">
                <a:solidFill>
                  <a:srgbClr val="FFFFFF"/>
                </a:solidFill>
                <a:latin typeface="Arial Black"/>
              </a:rPr>
              <a:t>
DA BLAZE.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0775" y="3810000"/>
            <a:ext cx="51435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Em vez de um banner ou de um link de afiliado, o jogador encontra o influenciador operando ao vivo a mesa de Blackjack, Roleta ou Baccarat que está dentro da Blaze. A experiência funde entretenimento, autoridade do criador e a mesa real onde a aposta acontece.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0775" y="4857750"/>
            <a:ext cx="5143500" cy="857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É o único formato do mercado em que o influenciador não recomenda a casa — ele faz parte da operação dela. Isso elimina o atrito entre conteúdo e produto e encurta dramaticamente o caminho até o depósito.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0775" y="5905500"/>
            <a:ext cx="2476500" cy="8572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1275" y="604837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AUTENTICIDADE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275" y="62484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O criador foi formado pela Spin Academy e domina as regras. Não é "encenação".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7775" y="5905500"/>
            <a:ext cx="2476500" cy="8572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8275" y="604837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PROXIMIDADE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8275" y="6248400"/>
            <a:ext cx="20955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Interage com o chat em tempo real, gerando até 4h de permanência por sessão.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PILAR 01 · 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PROCESSO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05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8250"/>
            <a:ext cx="3429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PROCESSO SPIN ACADEMY → BLAZE LOBBY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447800"/>
            <a:ext cx="3429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619250"/>
            <a:ext cx="59055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 Black"/>
              </a:rPr>
              <a:t>4 ETAPAS PARA TRANSFORMAR
AUDIÊNCIA EM </a:t>
            </a:r>
            <a:r>
              <a:rPr sz="2800" b="1" i="0">
                <a:solidFill>
                  <a:srgbClr val="E50E2B"/>
                </a:solidFill>
                <a:latin typeface="Arial Black"/>
              </a:rPr>
              <a:t>VOLUME REAL</a:t>
            </a:r>
            <a:r>
              <a:rPr sz="2800" b="1" i="0">
                <a:solidFill>
                  <a:srgbClr val="FFFFFF"/>
                </a:solidFill>
                <a:latin typeface="Arial Black"/>
              </a:rPr>
              <a:t>.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3048000"/>
            <a:ext cx="361950" cy="361950"/>
          </a:xfrm>
          <a:prstGeom prst="ellipse">
            <a:avLst/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3048000"/>
            <a:ext cx="552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E50E2B"/>
                </a:solidFill>
                <a:latin typeface="Arial"/>
              </a:rPr>
              <a:t>CASTING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3257550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C8C4C4"/>
                </a:solidFill>
                <a:latin typeface="Arial"/>
              </a:rPr>
              <a:t>Selecionamos junto com a Blaze 3 a 5 influenciadores que já conversam com o público de cassino — com base em CCV médio, engajamento real e fit de marca.</a:t>
            </a:r>
          </a:p>
        </p:txBody>
      </p:sp>
      <p:sp>
        <p:nvSpPr>
          <p:cNvPr id="18" name="Oval 17"/>
          <p:cNvSpPr/>
          <p:nvPr/>
        </p:nvSpPr>
        <p:spPr>
          <a:xfrm>
            <a:off x="609600" y="3905250"/>
            <a:ext cx="361950" cy="361950"/>
          </a:xfrm>
          <a:prstGeom prst="ellipse">
            <a:avLst/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" y="3905250"/>
            <a:ext cx="552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E50E2B"/>
                </a:solidFill>
                <a:latin typeface="Arial"/>
              </a:rPr>
              <a:t>SPIN ACADEMY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" y="4114800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C8C4C4"/>
                </a:solidFill>
                <a:latin typeface="Arial"/>
              </a:rPr>
              <a:t>Treinamento intensivo de 1 a 5 dias (dependendo do jogo): regras de Blackjack, Roleta e Baccarat, procedimentos operacionais, dicção e padrão de transmissão Spin.</a:t>
            </a:r>
          </a:p>
        </p:txBody>
      </p:sp>
      <p:sp>
        <p:nvSpPr>
          <p:cNvPr id="21" name="Oval 20"/>
          <p:cNvSpPr/>
          <p:nvPr/>
        </p:nvSpPr>
        <p:spPr>
          <a:xfrm>
            <a:off x="609600" y="4762500"/>
            <a:ext cx="361950" cy="361950"/>
          </a:xfrm>
          <a:prstGeom prst="ellipse">
            <a:avLst/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" y="4762500"/>
            <a:ext cx="552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E50E2B"/>
                </a:solidFill>
                <a:latin typeface="Arial"/>
              </a:rPr>
              <a:t>SHOW AO VIVO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" y="4972050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C8C4C4"/>
                </a:solidFill>
                <a:latin typeface="Arial"/>
              </a:rPr>
              <a:t>Mesa dedicada com branding Blaze, transmissão simultânea no canal do influenciador (Kick / YouTube / Instagram) e no lobby da Blaze.</a:t>
            </a:r>
          </a:p>
        </p:txBody>
      </p:sp>
      <p:sp>
        <p:nvSpPr>
          <p:cNvPr id="24" name="Oval 23"/>
          <p:cNvSpPr/>
          <p:nvPr/>
        </p:nvSpPr>
        <p:spPr>
          <a:xfrm>
            <a:off x="609600" y="5619750"/>
            <a:ext cx="361950" cy="361950"/>
          </a:xfrm>
          <a:prstGeom prst="ellipse">
            <a:avLst/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4900" y="5619750"/>
            <a:ext cx="5524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E50E2B"/>
                </a:solidFill>
                <a:latin typeface="Arial"/>
              </a:rPr>
              <a:t>CONTEÚDO &amp; MENSURAÇÃO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900" y="5829300"/>
            <a:ext cx="55245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50" b="0" i="0">
                <a:solidFill>
                  <a:srgbClr val="C8C4C4"/>
                </a:solidFill>
                <a:latin typeface="Arial"/>
              </a:rPr>
              <a:t>Cortes virais, mesa-código exclusiva por criador para tracking de UAP, FTD e GGR atribuído. Dashboards compartilhados em D+1.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34250" y="1238250"/>
            <a:ext cx="4248150" cy="10477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24750" y="140970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JOGOS SUGERIDOS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24750" y="16383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C8C4C4"/>
                </a:solidFill>
                <a:latin typeface="Arial"/>
              </a:rPr>
              <a:t>• Blackjack VIP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29750" y="16383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C8C4C4"/>
                </a:solidFill>
                <a:latin typeface="Arial"/>
              </a:rPr>
              <a:t>• Roleta Brasileira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0" y="1905000"/>
            <a:ext cx="190500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0" i="0">
                <a:solidFill>
                  <a:srgbClr val="C8C4C4"/>
                </a:solidFill>
                <a:latin typeface="Arial"/>
              </a:rPr>
              <a:t>• Baccarat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4250" y="2438400"/>
            <a:ext cx="4248150" cy="20955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24750" y="26098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CANAIS DE TRANSMISSÃO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4750" y="289560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▶  Kick — média 600k+ live viewers/dia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24750" y="337185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▶  YouTube Lives + cortes evergreen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4750" y="3848100"/>
            <a:ext cx="390525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▶  Instagram Reels + Stories direcionando para Blaze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34250" y="4686300"/>
            <a:ext cx="4248150" cy="1428750"/>
          </a:xfrm>
          <a:prstGeom prst="roundRect">
            <a:avLst>
              <a:gd name="adj" fmla="val 6000"/>
            </a:avLst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524750" y="4857750"/>
            <a:ext cx="33337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EXCLUSIVIDADE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24750" y="5095875"/>
            <a:ext cx="39052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Estúdio próprio Spin no Brasil + dealer formado pela Spin Academy = a única operação capaz de entregar esse formato hoje no país.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A PROVA · CASE THIAGO MASSAO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CASE MASSAO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06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825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CASE REAL · MARÇO/2026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447800"/>
            <a:ext cx="2286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619250"/>
            <a:ext cx="57150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  <a:latin typeface="Arial Black"/>
              </a:rPr>
              <a:t>QUASE </a:t>
            </a:r>
            <a:r>
              <a:rPr sz="3600" b="1" i="0">
                <a:solidFill>
                  <a:srgbClr val="E50E2B"/>
                </a:solidFill>
                <a:latin typeface="Arial Black"/>
              </a:rPr>
              <a:t>1 MILHÃO</a:t>
            </a:r>
            <a:r>
              <a:rPr sz="3600" b="1" i="0">
                <a:solidFill>
                  <a:srgbClr val="FFFFFF"/>
                </a:solidFill>
                <a:latin typeface="Arial Black"/>
              </a:rPr>
              <a:t>
DE VIEWS COM
UMA ÚNICA 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42900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O empresário e criador Thiago Massao foi treinado pela Spin Academy e assumiu, ao vivo, uma mesa de Baccarat operada pela Spin Gaming. A ação rodou em parceria com um cliente Spin e teve cobertura espontânea da Jovem Pan e do ConexãoBet, sendo descrita como "ação inédita no cenário brasileiro de iGaming".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4524375"/>
            <a:ext cx="571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O formato comprovou três coisas: (1) o público responde, (2) a imprensa amplifica gratuitamente, (3) a Spin tem o único pipeline pronto para escalar isso.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524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3800" b="1" i="0">
                <a:solidFill>
                  <a:srgbClr val="FF3B54"/>
                </a:solidFill>
                <a:latin typeface="Arial Black"/>
              </a:rPr>
              <a:t>~1M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436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VIEWS NA 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334125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Soma de live + cortes + cobertura editorial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9850" y="5524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3800" b="1" i="0">
                <a:solidFill>
                  <a:srgbClr val="FF3B54"/>
                </a:solidFill>
                <a:latin typeface="Arial Black"/>
              </a:rPr>
              <a:t>1ª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9850" y="61436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AÇÃO DO TIPO NO BRASIL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9850" y="6334125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Influenciador atuando como dealer ao vivo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0100" y="5524500"/>
            <a:ext cx="190500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3800" b="1" i="0">
                <a:solidFill>
                  <a:srgbClr val="FF3B54"/>
                </a:solidFill>
                <a:latin typeface="Arial Black"/>
              </a:rPr>
              <a:t>60min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0100" y="6143625"/>
            <a:ext cx="190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MESA AO VIVO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100" y="6334125"/>
            <a:ext cx="1905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Interação direta criador ↔ jogador via chat</a:t>
            </a:r>
          </a:p>
        </p:txBody>
      </p:sp>
      <p:pic>
        <p:nvPicPr>
          <p:cNvPr id="26" name="Picture 25" descr="mesa-blaze-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333500"/>
            <a:ext cx="4914900" cy="533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DA AUDIÊNCIA AO VOLUME DE APOSTAS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FUNIL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07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8250"/>
            <a:ext cx="20955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A MECÂNICA DO FUNIL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447800"/>
            <a:ext cx="20955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619250"/>
            <a:ext cx="685800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 i="0">
                <a:solidFill>
                  <a:srgbClr val="FFFFFF"/>
                </a:solidFill>
                <a:latin typeface="Arial Black"/>
              </a:rPr>
              <a:t>POR QUE CASTING BLAZE GERA
</a:t>
            </a:r>
            <a:r>
              <a:rPr sz="2800" b="1" i="0">
                <a:solidFill>
                  <a:srgbClr val="E50E2B"/>
                </a:solidFill>
                <a:latin typeface="Arial Black"/>
              </a:rPr>
              <a:t>+UAP · +FTD · +GGR</a:t>
            </a:r>
            <a:r>
              <a:rPr sz="2800" b="1" i="0">
                <a:solidFill>
                  <a:srgbClr val="FFFFFF"/>
                </a:solidFill>
                <a:latin typeface="Arial Black"/>
              </a:rPr>
              <a:t> EM POUCO TEMPO.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0" y="1857375"/>
            <a:ext cx="3962400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O influenciador-dealer corta etapas do funil tradicional de aquisição. Ele transforma audiência fria em jogador único autenticado (UAP) diretamente dentro do produto — e não em um landing externo.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3429000"/>
            <a:ext cx="2087880" cy="2667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62000" y="3581400"/>
            <a:ext cx="178308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ETAPA 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771900"/>
            <a:ext cx="178308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ALCANCE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4210050"/>
            <a:ext cx="178308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800" b="1" i="0">
                <a:solidFill>
                  <a:srgbClr val="FF3B54"/>
                </a:solidFill>
                <a:latin typeface="Arial Black"/>
              </a:rPr>
              <a:t>600k+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4762500"/>
            <a:ext cx="178308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850" b="0" i="0">
                <a:solidFill>
                  <a:srgbClr val="C8C4C4"/>
                </a:solidFill>
                <a:latin typeface="Arial"/>
              </a:rPr>
              <a:t>CCV médio diário do Kick BR. Streamers de cassino entregam picos de 20k–60k live viewers por sessão.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0830" y="3429000"/>
            <a:ext cx="2087880" cy="2667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983230" y="3581400"/>
            <a:ext cx="178308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ETAPA 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3230" y="3771900"/>
            <a:ext cx="178308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CONFIANÇA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3230" y="4210050"/>
            <a:ext cx="178308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800" b="1" i="0">
                <a:solidFill>
                  <a:srgbClr val="FF3B54"/>
                </a:solidFill>
                <a:latin typeface="Arial Black"/>
              </a:rPr>
              <a:t>63%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83230" y="4762500"/>
            <a:ext cx="178308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850" b="0" i="0">
                <a:solidFill>
                  <a:srgbClr val="C8C4C4"/>
                </a:solidFill>
                <a:latin typeface="Arial"/>
              </a:rPr>
              <a:t>da Gen Z confia mais em criadores do que em marcas. O dealer é o criador → confiança máxima na mesa.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52060" y="3429000"/>
            <a:ext cx="2087880" cy="2667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04460" y="3581400"/>
            <a:ext cx="178308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ETAPA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4460" y="3771900"/>
            <a:ext cx="178308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CONVERSÃO UAP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04460" y="4210050"/>
            <a:ext cx="178308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800" b="1" i="0">
                <a:solidFill>
                  <a:srgbClr val="FF3B54"/>
                </a:solidFill>
                <a:latin typeface="Arial Black"/>
              </a:rPr>
              <a:t>0,5–5%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4460" y="4762500"/>
            <a:ext cx="178308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850" b="0" i="0">
                <a:solidFill>
                  <a:srgbClr val="C8C4C4"/>
                </a:solidFill>
                <a:latin typeface="Arial"/>
              </a:rPr>
              <a:t>de viewers convertem em FTD em campanhas de streaming (benchmark iGaming 2025/26).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73289" y="3429000"/>
            <a:ext cx="2087880" cy="2667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425689" y="3581400"/>
            <a:ext cx="178308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ETAPA 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5689" y="3771900"/>
            <a:ext cx="178308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CPA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5689" y="4210050"/>
            <a:ext cx="178308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800" b="1" i="0">
                <a:solidFill>
                  <a:srgbClr val="FF3B54"/>
                </a:solidFill>
                <a:latin typeface="Arial Black"/>
              </a:rPr>
              <a:t>-35%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25689" y="4762500"/>
            <a:ext cx="178308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850" b="0" i="0">
                <a:solidFill>
                  <a:srgbClr val="C8C4C4"/>
                </a:solidFill>
                <a:latin typeface="Arial"/>
              </a:rPr>
              <a:t>menor que o influencer marketing tradicional, segundo dados da Uberman Agency.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94520" y="3429000"/>
            <a:ext cx="2087880" cy="2667000"/>
          </a:xfrm>
          <a:prstGeom prst="roundRect">
            <a:avLst>
              <a:gd name="adj" fmla="val 6000"/>
            </a:avLst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646920" y="3581400"/>
            <a:ext cx="178308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ETAPA 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3771900"/>
            <a:ext cx="178308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VOLUME NAS MESAS SPIN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6920" y="4210050"/>
            <a:ext cx="178308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800" b="1" i="0">
                <a:solidFill>
                  <a:srgbClr val="FF3B54"/>
                </a:solidFill>
                <a:latin typeface="Arial Black"/>
              </a:rPr>
              <a:t>+++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20" y="4762500"/>
            <a:ext cx="178308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850" b="0" i="0">
                <a:solidFill>
                  <a:srgbClr val="C8C4C4"/>
                </a:solidFill>
                <a:latin typeface="Arial"/>
              </a:rPr>
              <a:t>Audiência aterrissa direto na mesa Spin × Blaze. GGR atribuído mensurável por código de mesa.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9600" y="6477000"/>
            <a:ext cx="109537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0" i="0">
                <a:solidFill>
                  <a:srgbClr val="8A8686"/>
                </a:solidFill>
                <a:latin typeface="Arial"/>
              </a:rPr>
              <a:t>FONTES:  StreamCharts (2026) · Kinser Content iGaming Report 2026 · Uberman Agency · TaDa Gaming Brasil · BrasilVegas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PILAR 02 · CASHBACK 10% MESAS SPIN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CASHBACK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08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23825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PROPOSTA INICIAL · V1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447800"/>
            <a:ext cx="2286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619250"/>
            <a:ext cx="59055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Arial Black"/>
              </a:rPr>
              <a:t>10% DE VOLTA SOBRE
AS PERDAS LÍQUIDAS,
TODA SEMANA, NAS
</a:t>
            </a:r>
            <a:r>
              <a:rPr sz="3000" b="1" i="0">
                <a:solidFill>
                  <a:srgbClr val="E50E2B"/>
                </a:solidFill>
                <a:latin typeface="Arial Black"/>
              </a:rPr>
              <a:t>MESAS SPIN</a:t>
            </a:r>
            <a:r>
              <a:rPr sz="3000" b="1" i="0">
                <a:solidFill>
                  <a:srgbClr val="FFFFFF"/>
                </a:solidFill>
                <a:latin typeface="Arial Black"/>
              </a:rPr>
              <a:t> DA BLAZE.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3905250"/>
            <a:ext cx="59055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050" b="0" i="0">
                <a:solidFill>
                  <a:srgbClr val="C8C4C4"/>
                </a:solidFill>
                <a:latin typeface="Arial"/>
              </a:rPr>
              <a:t>Devolução automática de 10% das perdas líquidas semanais apenas para apostas nas mesas Spin Gaming dentro da Blaze. Sem rollover abusivo, com cap configurável por segmento e crédito em saldo real — em linha com o que KTO, Superbet, Vbet, Bet365 e 1xBet já praticam no Brasil.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5286375"/>
            <a:ext cx="2476500" cy="762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1050" y="541972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PERIODICIDADE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5610225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Semanal · janela seg→dom · crédito automático na 2ª-feira.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62300" y="5286375"/>
            <a:ext cx="2476500" cy="762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333750" y="541972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ESCOPO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3750" y="5610225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Apenas mesas Spin · concentra a base ativa no nosso lobby.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6143625"/>
            <a:ext cx="2476500" cy="762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81050" y="627697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FORMATO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6467475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10% das perdas líquidas · saldo real · sem wagering pesado.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62300" y="6143625"/>
            <a:ext cx="2476500" cy="762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333750" y="6276975"/>
            <a:ext cx="2095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SEGMENTAÇÃO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3750" y="6467475"/>
            <a:ext cx="219075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Trigger por queda de frequência · acelera ofertas ao churn.</a:t>
            </a:r>
          </a:p>
        </p:txBody>
      </p:sp>
      <p:pic>
        <p:nvPicPr>
          <p:cNvPr id="28" name="Picture 27" descr="cashback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333500"/>
            <a:ext cx="4914900" cy="5334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858000" y="1524000"/>
            <a:ext cx="1524000" cy="247650"/>
          </a:xfrm>
          <a:prstGeom prst="roundRect">
            <a:avLst>
              <a:gd name="adj" fmla="val 50000"/>
            </a:avLst>
          </a:prstGeom>
          <a:solidFill>
            <a:srgbClr val="E50E2B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REGULATÓRIO BR · OK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5715000"/>
            <a:ext cx="4572000" cy="762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48500" y="5857875"/>
            <a:ext cx="4191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200">
                <a:solidFill>
                  <a:srgbClr val="8A8686"/>
                </a:solidFill>
                <a:latin typeface="Arial"/>
              </a:rPr>
              <a:t>CONFORMIDADE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8500" y="6048375"/>
            <a:ext cx="41910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850" b="0" i="0">
                <a:solidFill>
                  <a:srgbClr val="FFFFFF"/>
                </a:solidFill>
                <a:latin typeface="Arial"/>
              </a:rPr>
              <a:t>Cashback segue permitido pela SPA/MF (Lei 14.790/2023). Acompanhamos PL 1018/2026 e teremos plano de descontinuidade rápido caso a regra mude.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CASHBACK · BENCHMARK DE MERCADO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09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335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POR QUE FUNCIONA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543050"/>
            <a:ext cx="1905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714500"/>
            <a:ext cx="666750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200" b="1" i="0">
                <a:solidFill>
                  <a:srgbClr val="FFFFFF"/>
                </a:solidFill>
                <a:latin typeface="Arial Black"/>
              </a:rPr>
              <a:t>O CASHBACK É O PRINCIPAL
MOTOR DE </a:t>
            </a:r>
            <a:r>
              <a:rPr sz="3200" b="1" i="0">
                <a:solidFill>
                  <a:srgbClr val="E50E2B"/>
                </a:solidFill>
                <a:latin typeface="Arial Black"/>
              </a:rPr>
              <a:t>RETENÇÃO</a:t>
            </a:r>
            <a:r>
              <a:rPr sz="3200" b="1" i="0">
                <a:solidFill>
                  <a:srgbClr val="FFFFFF"/>
                </a:solidFill>
                <a:latin typeface="Arial Black"/>
              </a:rPr>
              <a:t>
DAS BETS NO BRASIL.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0" y="1905000"/>
            <a:ext cx="37719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100" b="0" i="0">
                <a:solidFill>
                  <a:srgbClr val="C8C4C4"/>
                </a:solidFill>
                <a:latin typeface="Arial"/>
              </a:rPr>
              <a:t>Com a proibição do bônus de boas-vindas em 2024, o cashback virou a principal arma legal de retenção das casas Tier-1 do país. Os efeitos são consistentes em todos os benchmarks do setor.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600" y="3905250"/>
            <a:ext cx="3530600" cy="12382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76300" y="4095750"/>
            <a:ext cx="29972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4200" b="1" i="0">
                <a:solidFill>
                  <a:srgbClr val="FF3B54"/>
                </a:solidFill>
                <a:latin typeface="Arial Black"/>
              </a:rPr>
              <a:t>+20–30%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781550"/>
            <a:ext cx="299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200">
                <a:solidFill>
                  <a:srgbClr val="8A8686"/>
                </a:solidFill>
                <a:latin typeface="Arial"/>
              </a:rPr>
              <a:t>RETENÇÃO 6 MESES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0700" y="3905250"/>
            <a:ext cx="3530600" cy="12382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97400" y="4095750"/>
            <a:ext cx="29972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4200" b="1" i="0">
                <a:solidFill>
                  <a:srgbClr val="FF3B54"/>
                </a:solidFill>
                <a:latin typeface="Arial Black"/>
              </a:rPr>
              <a:t>+18%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7400" y="4781550"/>
            <a:ext cx="299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200">
                <a:solidFill>
                  <a:srgbClr val="8A8686"/>
                </a:solidFill>
                <a:latin typeface="Arial"/>
              </a:rPr>
              <a:t>FREQUÊNCIA DE DEPÓSITO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1800" y="3905250"/>
            <a:ext cx="3530600" cy="123825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18500" y="4095750"/>
            <a:ext cx="29972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4200" b="1" i="0">
                <a:solidFill>
                  <a:srgbClr val="FF3B54"/>
                </a:solidFill>
                <a:latin typeface="Arial Black"/>
              </a:rPr>
              <a:t>+25%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8500" y="4781550"/>
            <a:ext cx="2997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200">
                <a:solidFill>
                  <a:srgbClr val="8A8686"/>
                </a:solidFill>
                <a:latin typeface="Arial"/>
              </a:rPr>
              <a:t>TICKET MÉDIO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600" y="5524500"/>
            <a:ext cx="10972800" cy="1047750"/>
          </a:xfrm>
          <a:prstGeom prst="roundRect">
            <a:avLst>
              <a:gd name="adj" fmla="val 6000"/>
            </a:avLst>
          </a:prstGeom>
          <a:solidFill>
            <a:srgbClr val="2A0710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7250" y="5715000"/>
            <a:ext cx="1047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LEITURA PARA A BLAZE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5924550"/>
            <a:ext cx="10477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200" b="0" i="0">
                <a:solidFill>
                  <a:srgbClr val="C8C4C4"/>
                </a:solidFill>
                <a:latin typeface="Arial"/>
              </a:rPr>
              <a:t>Entrar com </a:t>
            </a:r>
            <a:r>
              <a:rPr sz="1200" b="1" i="0">
                <a:solidFill>
                  <a:srgbClr val="FF3B54"/>
                </a:solidFill>
                <a:latin typeface="Arial"/>
              </a:rPr>
              <a:t>10% semanal exclusivo nas mesas Spin</a:t>
            </a:r>
            <a:r>
              <a:rPr sz="1200" b="0" i="0">
                <a:solidFill>
                  <a:srgbClr val="C8C4C4"/>
                </a:solidFill>
                <a:latin typeface="Arial"/>
              </a:rPr>
              <a:t> é um posicionamento competitivo, alinhado ao mercado e sustentável — sem inflar custo de bônus genérico. O recorte por mesa Spin permite medir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GGR incremental com precisão.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CASHBACK · IMPACTO ESPERADO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IMPACTO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10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8A86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8A8686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335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A LÓGICA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543050"/>
            <a:ext cx="1905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714500"/>
            <a:ext cx="5715000" cy="30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200" b="1" i="0">
                <a:solidFill>
                  <a:srgbClr val="FFFFFF"/>
                </a:solidFill>
                <a:latin typeface="Arial Black"/>
              </a:rPr>
              <a:t>CASHBACK NÃO É CUSTO,
É </a:t>
            </a:r>
            <a:r>
              <a:rPr sz="4200" b="1" i="0">
                <a:solidFill>
                  <a:srgbClr val="E50E2B"/>
                </a:solidFill>
                <a:latin typeface="Arial Black"/>
              </a:rPr>
              <a:t>AMORTECEDOR
DE CHURN</a:t>
            </a:r>
            <a:r>
              <a:rPr sz="4200" b="1" i="0">
                <a:solidFill>
                  <a:srgbClr val="FFFFFF"/>
                </a:solidFill>
                <a:latin typeface="Arial Black"/>
              </a:rPr>
              <a:t> DEPOIS
DE UMA PERDA.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14500"/>
            <a:ext cx="47244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 i="0">
                <a:solidFill>
                  <a:srgbClr val="C8C4C4"/>
                </a:solidFill>
                <a:latin typeface="Arial"/>
              </a:rPr>
              <a:t>O momento mais perigoso na vida de um jogador é a primeira sessão perdedora. Sem nada que amenize a frustração, ele tende a abandonar a plataforma.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62250"/>
            <a:ext cx="47244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 i="0">
                <a:solidFill>
                  <a:srgbClr val="C8C4C4"/>
                </a:solidFill>
                <a:latin typeface="Arial"/>
              </a:rPr>
              <a:t>Ao receber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10% de volta na semana</a:t>
            </a:r>
            <a:r>
              <a:rPr sz="1200" b="0" i="0">
                <a:solidFill>
                  <a:srgbClr val="C8C4C4"/>
                </a:solidFill>
                <a:latin typeface="Arial"/>
              </a:rPr>
              <a:t>, o jogador volta para a plataforma para usar o crédito — e quando ele volta, encontra justamente as mesas Spin novamente. Cria-se um </a:t>
            </a:r>
            <a:r>
              <a:rPr sz="1200" b="1" i="0">
                <a:solidFill>
                  <a:srgbClr val="FF3B54"/>
                </a:solidFill>
                <a:latin typeface="Arial"/>
              </a:rPr>
              <a:t>ciclo de re-deposit fechado</a:t>
            </a:r>
            <a:r>
              <a:rPr sz="1200" b="0" i="0">
                <a:solidFill>
                  <a:srgbClr val="C8C4C4"/>
                </a:solidFill>
                <a:latin typeface="Arial"/>
              </a:rPr>
              <a:t> dentro do nosso produto.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572000"/>
            <a:ext cx="4724400" cy="1905000"/>
          </a:xfrm>
          <a:prstGeom prst="roundRect">
            <a:avLst>
              <a:gd name="adj" fmla="val 6000"/>
            </a:avLst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8500" y="4762500"/>
            <a:ext cx="4381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EFEITO COMPOSTO COM O CASTING BLAZE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8500" y="5000625"/>
            <a:ext cx="438150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5000"/>
              </a:lnSpc>
            </a:pPr>
            <a:r>
              <a:rPr sz="1100" b="0" i="0">
                <a:solidFill>
                  <a:srgbClr val="C8C4C4"/>
                </a:solidFill>
                <a:latin typeface="Arial"/>
              </a:rPr>
              <a:t>O Casting Blaze </a:t>
            </a:r>
            <a:r>
              <a:rPr sz="1100" b="1" i="0">
                <a:solidFill>
                  <a:srgbClr val="C8C4C4"/>
                </a:solidFill>
                <a:latin typeface="Arial"/>
              </a:rPr>
              <a:t>traz</a:t>
            </a:r>
            <a:r>
              <a:rPr sz="1100" b="0" i="0">
                <a:solidFill>
                  <a:srgbClr val="C8C4C4"/>
                </a:solidFill>
                <a:latin typeface="Arial"/>
              </a:rPr>
              <a:t> jogadores novos para as mesas Spin. O Cashback </a:t>
            </a:r>
            <a:r>
              <a:rPr sz="1100" b="1" i="0">
                <a:solidFill>
                  <a:srgbClr val="C8C4C4"/>
                </a:solidFill>
                <a:latin typeface="Arial"/>
              </a:rPr>
              <a:t>mantém</a:t>
            </a:r>
            <a:r>
              <a:rPr sz="1100" b="0" i="0">
                <a:solidFill>
                  <a:srgbClr val="C8C4C4"/>
                </a:solidFill>
                <a:latin typeface="Arial"/>
              </a:rPr>
              <a:t> esses jogadores e maximiza re-deposits. As duas alavancas atacam pontas opostas do LTV: aquisição e retenção.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A SINERGIA · CASTING + CASHBACK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PLANO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11 / 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05250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CASTING BLAZE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53125" y="57150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33050E"/>
          </a:solidFill>
          <a:ln w="12700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6200" rIns="76200" tIns="0" bIns="0"/>
          <a:lstStyle/>
          <a:p>
            <a:pPr algn="ctr"/>
            <a:r>
              <a:rPr sz="800" b="1" spc="200">
                <a:solidFill>
                  <a:srgbClr val="FFFFFF"/>
                </a:solidFill>
                <a:latin typeface="Arial"/>
              </a:rPr>
              <a:t>CASHBACK 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333500"/>
            <a:ext cx="2286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00" b="1" i="0" spc="300">
                <a:solidFill>
                  <a:srgbClr val="E50E2B"/>
                </a:solidFill>
                <a:latin typeface="Arial"/>
              </a:rPr>
              <a:t>JUNTOS, NÃO SEPARADOS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600" y="1543050"/>
            <a:ext cx="2286000" cy="9525"/>
          </a:xfrm>
          <a:prstGeom prst="rect">
            <a:avLst/>
          </a:prstGeom>
          <a:solidFill>
            <a:srgbClr val="7A0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09600" y="1714500"/>
            <a:ext cx="10953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Arial Black"/>
              </a:rPr>
              <a:t>UMA AÇÃO FAZ O JOGADOR ENTRAR.
A OUTRA FAZ ELE </a:t>
            </a:r>
            <a:r>
              <a:rPr sz="2600" b="1" i="0">
                <a:solidFill>
                  <a:srgbClr val="E50E2B"/>
                </a:solidFill>
                <a:latin typeface="Arial Black"/>
              </a:rPr>
              <a:t>FICAR — E VOLTAR.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" y="2762250"/>
            <a:ext cx="5381625" cy="1905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2933700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FUNIL DE AQUISIÇÃO · CASTING BLAZE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143250"/>
            <a:ext cx="4857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TRAZ NOVOS UAP PARA AS MESAS SPIN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8200" y="353377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90600" y="347662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Conteúdo orgânico do criador + mesa-código exclusiva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8200" y="374332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0600" y="368617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Imprensa espontânea amplifica (case Massao ~1M views)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200" y="395287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90600" y="389572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CPA ~35% menor que tráfego pago tradicional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8200" y="416242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0600" y="410527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Audiência aterrissa direto na mesa Spin × Blaze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0775" y="2762250"/>
            <a:ext cx="5381625" cy="1905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29375" y="2933700"/>
            <a:ext cx="5048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CICLO DE RETENÇÃO · CASHBACK 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3143250"/>
            <a:ext cx="485775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SEGURA E REATIVA QUEM JÁ ESTÁ DENTRO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9375" y="353377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1775" y="347662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Reduz churn pós-derrota (momento crítico)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29375" y="374332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81775" y="368617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+18% frequência de depósito documentada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9375" y="395287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1775" y="389572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Devolução só vale nas mesas Spin → re-deposit fechado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29375" y="4162425"/>
            <a:ext cx="66675" cy="6667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1775" y="4105275"/>
            <a:ext cx="47053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0" i="0">
                <a:solidFill>
                  <a:srgbClr val="C8C4C4"/>
                </a:solidFill>
                <a:latin typeface="Arial"/>
              </a:rPr>
              <a:t>Trigger por queda de atividade → ataca churn antes de acontecer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600" y="4953000"/>
            <a:ext cx="10972800" cy="20955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8200" y="5143500"/>
            <a:ext cx="57150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PLANO DE ATIVAÇÃO PROPOSTO</a:t>
            </a:r>
          </a:p>
        </p:txBody>
      </p:sp>
      <p:sp>
        <p:nvSpPr>
          <p:cNvPr id="39" name="Oval 38"/>
          <p:cNvSpPr/>
          <p:nvPr/>
        </p:nvSpPr>
        <p:spPr>
          <a:xfrm>
            <a:off x="838200" y="5476875"/>
            <a:ext cx="266700" cy="266700"/>
          </a:xfrm>
          <a:prstGeom prst="ellipse">
            <a:avLst/>
          </a:prstGeom>
          <a:solidFill>
            <a:srgbClr val="E50E2B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F1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200" y="5524500"/>
            <a:ext cx="211931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FFFFFF"/>
                </a:solidFill>
                <a:latin typeface="Arial"/>
              </a:rPr>
              <a:t>SETUP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200" y="5857875"/>
            <a:ext cx="2500312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Definição de mesa-código Spin × Blaze · seleção de 3 influenciadores piloto · onboarding Spin Academy.</a:t>
            </a:r>
          </a:p>
        </p:txBody>
      </p:sp>
      <p:sp>
        <p:nvSpPr>
          <p:cNvPr id="42" name="Oval 41"/>
          <p:cNvSpPr/>
          <p:nvPr/>
        </p:nvSpPr>
        <p:spPr>
          <a:xfrm>
            <a:off x="3509962" y="5476875"/>
            <a:ext cx="266700" cy="266700"/>
          </a:xfrm>
          <a:prstGeom prst="ellipse">
            <a:avLst/>
          </a:prstGeom>
          <a:solidFill>
            <a:srgbClr val="E50E2B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F2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90962" y="5524500"/>
            <a:ext cx="211931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FFFFFF"/>
                </a:solidFill>
                <a:latin typeface="Arial"/>
              </a:rPr>
              <a:t>SOFT LAUNCH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09962" y="5857875"/>
            <a:ext cx="2500312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1ª transmissão Casting Blaze · cashback 10% nas mesas Spin ativado em paralelo · monitoramento em D+1.</a:t>
            </a:r>
          </a:p>
        </p:txBody>
      </p:sp>
      <p:sp>
        <p:nvSpPr>
          <p:cNvPr id="45" name="Oval 44"/>
          <p:cNvSpPr/>
          <p:nvPr/>
        </p:nvSpPr>
        <p:spPr>
          <a:xfrm>
            <a:off x="6181725" y="5476875"/>
            <a:ext cx="266700" cy="266700"/>
          </a:xfrm>
          <a:prstGeom prst="ellipse">
            <a:avLst/>
          </a:prstGeom>
          <a:solidFill>
            <a:srgbClr val="E50E2B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F3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62725" y="5524500"/>
            <a:ext cx="211931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FFFFFF"/>
                </a:solidFill>
                <a:latin typeface="Arial"/>
              </a:rPr>
              <a:t>ESCALA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725" y="5857875"/>
            <a:ext cx="2500312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Calendário fixo de Casting Blaze (mín. 2 lives/semana) · ofertas de cashback triggered por queda de frequência.</a:t>
            </a:r>
          </a:p>
        </p:txBody>
      </p:sp>
      <p:sp>
        <p:nvSpPr>
          <p:cNvPr id="48" name="Oval 47"/>
          <p:cNvSpPr/>
          <p:nvPr/>
        </p:nvSpPr>
        <p:spPr>
          <a:xfrm>
            <a:off x="8853487" y="5476875"/>
            <a:ext cx="266700" cy="266700"/>
          </a:xfrm>
          <a:prstGeom prst="ellipse">
            <a:avLst/>
          </a:prstGeom>
          <a:solidFill>
            <a:srgbClr val="E50E2B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900" b="1">
                <a:solidFill>
                  <a:srgbClr val="FFFFFF"/>
                </a:solidFill>
                <a:latin typeface="Arial Black"/>
              </a:rPr>
              <a:t>F4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4487" y="5524500"/>
            <a:ext cx="2119312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000" b="1" i="0" spc="100">
                <a:solidFill>
                  <a:srgbClr val="FFFFFF"/>
                </a:solidFill>
                <a:latin typeface="Arial"/>
              </a:rPr>
              <a:t>OTIMIZAÇÃO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53487" y="5857875"/>
            <a:ext cx="2500312" cy="1047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Calibragem do % de cashback por segmento de LTV · decisão de exclusividade Spin × Blaze para o formato no Brasil.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04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381000" y="571500"/>
            <a:ext cx="8572500" cy="533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Spin</a:t>
            </a:r>
          </a:p>
          <a:p>
            <a:pPr>
              <a:lnSpc>
                <a:spcPct val="78000"/>
              </a:lnSpc>
            </a:pPr>
            <a:r>
              <a:rPr sz="18000">
                <a:solidFill>
                  <a:srgbClr val="1E1416"/>
                </a:solidFill>
                <a:latin typeface="Arial Black"/>
              </a:rPr>
              <a:t>GAMING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333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7486650"/>
            <a:ext cx="12192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09600" y="247650"/>
            <a:ext cx="20955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FFFFFF"/>
                </a:solidFill>
                <a:latin typeface="Arial"/>
              </a:rPr>
              <a:t>JUNHO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19500" y="2095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800" b="1" i="0" spc="200">
                <a:solidFill>
                  <a:srgbClr val="FFFFFF"/>
                </a:solidFill>
                <a:latin typeface="Arial"/>
              </a:rPr>
              <a:t>PRÓXIMOS PASSOS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63250" y="209550"/>
            <a:ext cx="85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600" b="1" i="1">
                <a:solidFill>
                  <a:srgbClr val="FFFFFF"/>
                </a:solidFill>
                <a:latin typeface="Arial Black"/>
              </a:rPr>
              <a:t>spin</a:t>
            </a:r>
          </a:p>
          <a:p>
            <a:pPr algn="r">
              <a:lnSpc>
                <a:spcPct val="100000"/>
              </a:lnSpc>
            </a:pPr>
            <a:r>
              <a:rPr sz="600" b="1" i="0" spc="400">
                <a:solidFill>
                  <a:srgbClr val="FFFFFF"/>
                </a:solidFill>
                <a:latin typeface="Arial"/>
              </a:rPr>
              <a:t>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334250"/>
            <a:ext cx="6667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SPIN GAMING  ×  BLAZE  ·  OBRIGADO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0" y="7334250"/>
            <a:ext cx="13335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700" b="1" i="0" spc="200">
                <a:solidFill>
                  <a:srgbClr val="8A8686"/>
                </a:solidFill>
                <a:latin typeface="Arial"/>
              </a:rPr>
              <a:t>12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238250"/>
            <a:ext cx="1219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spc="300">
                <a:solidFill>
                  <a:srgbClr val="E50E2B"/>
                </a:solidFill>
                <a:latin typeface="Arial"/>
              </a:rPr>
              <a:t>VAMOS LIGAR O CASTING BLAZE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4500" y="1504950"/>
            <a:ext cx="1143000" cy="9525"/>
          </a:xfrm>
          <a:prstGeom prst="rect">
            <a:avLst/>
          </a:prstGeom>
          <a:solidFill>
            <a:srgbClr val="E50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9600" y="1762125"/>
            <a:ext cx="109728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400" b="1" i="0">
                <a:solidFill>
                  <a:srgbClr val="FFFFFF"/>
                </a:solidFill>
                <a:latin typeface="Arial Black"/>
              </a:rPr>
              <a:t>TRANSFORME A INFLUÊNCIA
QUE A BLAZE JÁ TEM EM
</a:t>
            </a:r>
            <a:r>
              <a:rPr sz="4400" b="1" i="0">
                <a:solidFill>
                  <a:srgbClr val="E50E2B"/>
                </a:solidFill>
                <a:latin typeface="Arial Black"/>
              </a:rPr>
              <a:t>VOLUME REAL DE APOSTAS.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905250"/>
            <a:ext cx="762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55000"/>
              </a:lnSpc>
            </a:pPr>
            <a:r>
              <a:rPr sz="1200" b="0" i="0">
                <a:solidFill>
                  <a:srgbClr val="C8C4C4"/>
                </a:solidFill>
                <a:latin typeface="Arial"/>
              </a:rPr>
              <a:t>A Spin Gaming entrega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estúdio</a:t>
            </a:r>
            <a:r>
              <a:rPr sz="1200" b="0" i="0">
                <a:solidFill>
                  <a:srgbClr val="C8C4C4"/>
                </a:solidFill>
                <a:latin typeface="Arial"/>
              </a:rPr>
              <a:t>,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tecnologia</a:t>
            </a:r>
            <a:r>
              <a:rPr sz="1200" b="0" i="0">
                <a:solidFill>
                  <a:srgbClr val="C8C4C4"/>
                </a:solidFill>
                <a:latin typeface="Arial"/>
              </a:rPr>
              <a:t>,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Spin Academy</a:t>
            </a:r>
            <a:r>
              <a:rPr sz="1200" b="0" i="0">
                <a:solidFill>
                  <a:srgbClr val="C8C4C4"/>
                </a:solidFill>
                <a:latin typeface="Arial"/>
              </a:rPr>
              <a:t> e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operação</a:t>
            </a:r>
            <a:r>
              <a:rPr sz="1200" b="0" i="0">
                <a:solidFill>
                  <a:srgbClr val="C8C4C4"/>
                </a:solidFill>
                <a:latin typeface="Arial"/>
              </a:rPr>
              <a:t>. A Blaze entrega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marca</a:t>
            </a:r>
            <a:r>
              <a:rPr sz="1200" b="0" i="0">
                <a:solidFill>
                  <a:srgbClr val="C8C4C4"/>
                </a:solidFill>
                <a:latin typeface="Arial"/>
              </a:rPr>
              <a:t>,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base</a:t>
            </a:r>
            <a:r>
              <a:rPr sz="1200" b="0" i="0">
                <a:solidFill>
                  <a:srgbClr val="C8C4C4"/>
                </a:solidFill>
                <a:latin typeface="Arial"/>
              </a:rPr>
              <a:t> e </a:t>
            </a:r>
            <a:r>
              <a:rPr sz="1200" b="1" i="0">
                <a:solidFill>
                  <a:srgbClr val="C8C4C4"/>
                </a:solidFill>
                <a:latin typeface="Arial"/>
              </a:rPr>
              <a:t>distribuição</a:t>
            </a:r>
            <a:r>
              <a:rPr sz="1200" b="0" i="0">
                <a:solidFill>
                  <a:srgbClr val="C8C4C4"/>
                </a:solidFill>
                <a:latin typeface="Arial"/>
              </a:rPr>
              <a:t>. Juntas, lançamos o primeiro programa recorrente de influenciador-dealer + cashback do mercado brasileiro.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8250" y="5048250"/>
            <a:ext cx="3238500" cy="1524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447800" y="5219700"/>
            <a:ext cx="28194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PRÓXIMA REUNIÃO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5429250"/>
            <a:ext cx="2819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SHORTLIST DE INFLUENCIADORES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7800" y="579120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Spin envia em até 5 dias úteis 8 nomes com fit Blaze, CCV comprovado e disponibilidade de agenda.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5048250"/>
            <a:ext cx="3238500" cy="1524000"/>
          </a:xfrm>
          <a:prstGeom prst="roundRect">
            <a:avLst>
              <a:gd name="adj" fmla="val 6000"/>
            </a:avLst>
          </a:prstGeom>
          <a:solidFill>
            <a:srgbClr val="140309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781550" y="5219700"/>
            <a:ext cx="28194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SETUP DE CASHBACK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1550" y="5429250"/>
            <a:ext cx="2819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REGRA &amp; MENSURAÇÃO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1550" y="579120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Spin + Blaze alinham a engine de cashback, cap por segmento e dashboard semanal de impacto no GGR.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05750" y="5048250"/>
            <a:ext cx="3238500" cy="1524000"/>
          </a:xfrm>
          <a:prstGeom prst="roundRect">
            <a:avLst>
              <a:gd name="adj" fmla="val 6000"/>
            </a:avLst>
          </a:prstGeom>
          <a:solidFill>
            <a:srgbClr val="33050E"/>
          </a:solidFill>
          <a:ln w="9525">
            <a:solidFill>
              <a:srgbClr val="E50E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115300" y="5219700"/>
            <a:ext cx="281940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800" b="1" i="0" spc="300">
                <a:solidFill>
                  <a:srgbClr val="E50E2B"/>
                </a:solidFill>
                <a:latin typeface="Arial"/>
              </a:rPr>
              <a:t>SOFT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5300" y="5429250"/>
            <a:ext cx="28194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1ª LIVE CASTING BLAZE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5300" y="5791200"/>
            <a:ext cx="281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900" b="0" i="0">
                <a:solidFill>
                  <a:srgbClr val="C8C4C4"/>
                </a:solidFill>
                <a:latin typeface="Arial"/>
              </a:rPr>
              <a:t>Soft launch da operação combinada — Casting Blaze ao vivo + cashback ativo nas mesas Spin no mesmo dia.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0" y="6667500"/>
            <a:ext cx="1047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2200" b="1" i="0">
                <a:solidFill>
                  <a:srgbClr val="E50E2B"/>
                </a:solidFill>
                <a:latin typeface="Arial Black"/>
              </a:rPr>
              <a:t>blaze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7875" y="6667500"/>
            <a:ext cx="2857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1250" y="6667500"/>
            <a:ext cx="12382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800" b="1" i="1">
                <a:solidFill>
                  <a:srgbClr val="E50E2B"/>
                </a:solidFill>
                <a:latin typeface="Arial Black"/>
              </a:rPr>
              <a:t>spin GAMING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