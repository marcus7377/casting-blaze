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PROPOSTA SPIN GAMING PARA BLAZE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BEBEC3"/>
                </a:solidFill>
              </a:rPr>
              <a:t>Influenciador como dealer para gerar UAPI, depósitos e volume de apostas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698480" cy="3383280"/>
          </a:xfrm>
          <a:prstGeom prst="roundRect">
            <a:avLst/>
          </a:prstGeom>
          <a:solidFill>
            <a:srgbClr val="21081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2F2F2"/>
                </a:solidFill>
              </a:rPr>
              <a:t>SPIN + BLAZE LIVE CASINO</a:t>
            </a:r>
          </a:p>
          <a:p>
            <a:pPr algn="ctr"/>
            <a:r>
              <a:rPr sz="1800" b="1">
                <a:solidFill>
                  <a:srgbClr val="E92750"/>
                </a:solidFill>
              </a:rPr>
              <a:t>PRESENÇA. IDENTIDADE. INFLUÊNCIA.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POR QUE ESSA AÇÃO É ESTRATÉGICA PARA A BLAZE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566160" cy="347472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Marca pronta para escalar presença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 Blaze já tem marca forte e audiência massiva.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O próximo passo é transformar atenção em sessão de jogo.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Live Casino cria conexão em tempo real com o público.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103120"/>
            <a:ext cx="3566160" cy="347472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Creator economy acelera conversão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Influenciador reduz atrito de confiança.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Conteúdo social encurta o caminho até o depósito.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Formato gera prova social e compartilhamento orgânico.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03120"/>
            <a:ext cx="3154680" cy="347472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Tese central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Treinar um influenciador da marca como dealer cria autenticidade.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Autenticidade aumenta UAPI e recorrência de jogo.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Recorrência eleva depósitos e volume apostado.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CASE VALIDADO PELA SPIN: INFLUÊNCIA QUE VIRA AUDIÊNCIA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07492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Resultados da ação anterior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Quase 1 milhão de visualizações no material principal.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Alto volume de interações e comentários positivos.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Formato com rosto conhecido aumenta tempo de consumo.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Prova de que entretenimento + branding gera tração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148840"/>
            <a:ext cx="2514600" cy="1600200"/>
          </a:xfrm>
          <a:prstGeom prst="roundRect">
            <a:avLst/>
          </a:prstGeom>
          <a:solidFill>
            <a:srgbClr val="1B0812"/>
          </a:solidFill>
          <a:ln w="1270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2F2F2"/>
                </a:solidFill>
              </a:rPr>
              <a:t>Vídeo 1 - Massão Dealer</a:t>
            </a:r>
          </a:p>
          <a:p>
            <a:pPr algn="ctr"/>
            <a:r>
              <a:rPr sz="1100">
                <a:solidFill>
                  <a:srgbClr val="BEBEC3"/>
                </a:solidFill>
              </a:rPr>
              <a:t>Inserir arquivo de mídia nesta área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148840"/>
            <a:ext cx="2697480" cy="1600200"/>
          </a:xfrm>
          <a:prstGeom prst="roundRect">
            <a:avLst/>
          </a:prstGeom>
          <a:solidFill>
            <a:srgbClr val="1B0812"/>
          </a:solidFill>
          <a:ln w="1270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2F2F2"/>
                </a:solidFill>
              </a:rPr>
              <a:t>Vídeo 2 - Massão Dealer</a:t>
            </a:r>
          </a:p>
          <a:p>
            <a:pPr algn="ctr"/>
            <a:r>
              <a:rPr sz="1100">
                <a:solidFill>
                  <a:srgbClr val="BEBEC3"/>
                </a:solidFill>
              </a:rPr>
              <a:t>Inserir arquivo de mídia nesta área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977639"/>
            <a:ext cx="5394960" cy="1737360"/>
          </a:xfrm>
          <a:prstGeom prst="roundRect">
            <a:avLst/>
          </a:prstGeom>
          <a:solidFill>
            <a:srgbClr val="1B0812"/>
          </a:solidFill>
          <a:ln w="1270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2F2F2"/>
                </a:solidFill>
              </a:rPr>
              <a:t>Print da ação de alta visualização</a:t>
            </a:r>
          </a:p>
          <a:p>
            <a:pPr algn="ctr"/>
            <a:r>
              <a:rPr sz="1100">
                <a:solidFill>
                  <a:srgbClr val="BEBEC3"/>
                </a:solidFill>
              </a:rPr>
              <a:t>Inserir arquivo de mídia nesta área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MODELO BLAZE: INFLUENCER DEALER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9728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Arquitetura da ação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1) Seleção e treinamento do influenciador como dealer oficial Blaze.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2) Teasers sociais: bastidores + preparação + storytelling de evolução.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3) Sessões ao vivo nas mesas Spin dentro da Blaze com agenda recorrente.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4) Recortes em vídeo para distribuição orgânica e mídia de performance.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5) CTA integrado para entrada nas mesas da campanha.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POR QUE ESSE FORMATO AUMENTA UAPI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2606040" cy="347472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1. Atenção quente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Audiência já engajada no criador.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Menor custo de atenção.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03120"/>
            <a:ext cx="2606040" cy="347472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2. Confiança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Presença humana no produto.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Brand safety e familiaridade.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03120"/>
            <a:ext cx="2606040" cy="347472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3. Entrada qualificada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Usuário chega com intenção real.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Maior propensão ao 1º depósito.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103120"/>
            <a:ext cx="2286000" cy="347472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4. Recorrência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Volta para novas lives.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Eleva FTD2 e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IMPACTO ESPERADO NO FUNIL DE RECEITA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57784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Premissas de execução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Agenda recorrente de lives com influenciador dealer.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Distribuição com cortes de alta retenção em social.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Promo mecânica conectada ao comportamento da mesa.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Medição por cohort para separar incremento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103120"/>
            <a:ext cx="4937760" cy="3566160"/>
          </a:xfrm>
          <a:prstGeom prst="roundRect">
            <a:avLst/>
          </a:prstGeom>
          <a:solidFill>
            <a:srgbClr val="210715"/>
          </a:solidFill>
          <a:ln w="1397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ctr">
              <a:defRPr sz="1400">
                <a:solidFill>
                  <a:srgbClr val="F2F2F2"/>
                </a:solidFill>
              </a:defRPr>
            </a:pPr>
            <a:r>
              <a:t>Faixas conservadoras para piloto: </a:t>
            </a:r>
          </a:p>
          <a:p>
            <a:pPr>
              <a:defRPr sz="1400">
                <a:solidFill>
                  <a:srgbClr val="BEBEC3"/>
                </a:solidFill>
              </a:defRPr>
            </a:pPr>
            <a:r>
              <a:t>UAPI: +12% a +20%</a:t>
            </a:r>
          </a:p>
          <a:p>
            <a:pPr>
              <a:defRPr sz="1400">
                <a:solidFill>
                  <a:srgbClr val="BEBEC3"/>
                </a:solidFill>
              </a:defRPr>
            </a:pPr>
            <a:r>
              <a:t>Taxa de 2º depósito: +8% a +15%</a:t>
            </a:r>
          </a:p>
          <a:p>
            <a:pPr>
              <a:defRPr sz="1400">
                <a:solidFill>
                  <a:srgbClr val="BEBEC3"/>
                </a:solidFill>
              </a:defRPr>
            </a:pPr>
            <a:r>
              <a:t>Volume de depósitos: +10% a +18%</a:t>
            </a:r>
          </a:p>
          <a:p>
            <a:pPr>
              <a:defRPr sz="1400">
                <a:solidFill>
                  <a:srgbClr val="BEBEC3"/>
                </a:solidFill>
              </a:defRPr>
            </a:pPr>
            <a:r>
              <a:t>Volume apostado nas mesas Spin: +12% a +22%</a:t>
            </a:r>
          </a:p>
          <a:p>
            <a:pPr>
              <a:defRPr sz="1400">
                <a:solidFill>
                  <a:srgbClr val="BEBEC3"/>
                </a:solidFill>
              </a:defRPr>
            </a:pPr>
            <a:r>
              <a:t>NGR incremental: +6% a +14%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PROGRAMA CASHBACK 10% PARA MESAS SPIN NA BLAZE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6576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Mecânica base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10% de cashback sobre perda líquida nas mesas Spin elegíveis.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Crédito em janela semanal para gerar retorno de sessão.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Comunicação com ranking e sensação de progressão.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03120"/>
            <a:ext cx="347472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Proteção de margem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Teto por jogador no piloto.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Elegibilidade com KYC e histórico saudável.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Regras contra hedge e abuso promocional.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Exclusão de contas sob alerta de risco.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03120"/>
            <a:ext cx="315468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Objetivo de negócio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Aumentar frequência de retorno.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Elevar 2º depósito no mês.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Expandir tempo de mesa e apostas.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Aumentar NGR líquido por cohort.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POR QUE CASHBACK FUNCIONA NO MERCADO DE BET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4864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Benchmarks e aprendizados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Retenção é o principal alavancador de lucro em modelos transacionais.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Benchmarks iGaming mostram ganho de retenção e depósitos quando loyalty é bem calibrado.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Em mercados maduros, lifecycle marketing reduz dependência de bônus de aquisição.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Cashback funciona melhor quando é direcionado por comportamento (não massivo).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103120"/>
            <a:ext cx="50292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Dados de referência para narrativa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Trueplay (2025): +18% retenção, +10% depósitos, +5,6% NGR em marcas com loyalty.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Optimove Pulse (2025): retenção perto de 70% em mercados globais; CRM é decisivo.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Bain: +5% retenção pode elevar lucro entre 25% e 95% (efeito econômico geral).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Soft2Bet: acompanhar 2º depósito e retenção D30 melhora eficiência promocional.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GOVERNANÇA DA CAMPANHA: CRESCIMENTO COM CONTROLE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30352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Controles operacionais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Regras de elegibilidade por CPF, dispositivo e comportamento.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Monitoramento de padrões atípicos de aposta e saque.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Limites dinâmicos de cashback por faixa de risco.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Auditoria semanal entre CRM, risco e operação de jogo.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16636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Medição de incremento real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Grupo holdout sem incentivo para medir lift real.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Leitura por cohort: retenção D7/D30 e 2º depósito.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Acompanhamento NGR/GGR para proteger rentabilidade.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Escalonar somente jornadas com ROI incremental positivo.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PLANO INTEGRADO DE EXECUÇÃO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260604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Fase 1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Definir dealer influenciador.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Fechar regras promocionais.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Alinhar tracking completo.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03120"/>
            <a:ext cx="260604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Fase 2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Rodar teaser e bastidores.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Treinamento on-camera.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Campanha de expectativa.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03120"/>
            <a:ext cx="260604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Fase 3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Lives oficiais na Blaze.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Cashback ativo nas mesas.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Criativos de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103120"/>
            <a:ext cx="22860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Fase 4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Análise de cohort.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Ajuste de incentivo.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Escala para novos nomes.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KPIS PARA DECISÃO DE ESCALA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4864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Painel principal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UAPI gerado por origem de tráfego.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Taxa de conversão em 1º e 2º depósito.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Ticket médio e frequência de depósito.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Volume apostado nas mesas Spin da campanha.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NGR incremental e payback promocional.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103120"/>
            <a:ext cx="50292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Critérios de expansão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Escalar se houver lift consistente em retenção e depósitos.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Escalar somente se NGR incremental permanecer saudável.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Abrir novas mesas e novos creators por perfil de audiência.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Transformar ação em calendário fixo da Blaze.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PRÓXIMOS PASSOS COM A BLAZE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9728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Decisão recomendada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Aprovar piloto Influencer Dealer + Cashback 10% nas mesas Spin.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Validar influenciador, regras de campanha e pacote criativo.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Entrar em operação com medição de incremento desde o dia 1.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Transformar o case em referência de Live Casino no Brasil.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30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228600" y="566928"/>
            <a:ext cx="21945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9601200" y="566928"/>
            <a:ext cx="2651760" cy="6309360"/>
          </a:xfrm>
          <a:prstGeom prst="rtTriangle">
            <a:avLst/>
          </a:prstGeom>
          <a:solidFill>
            <a:srgbClr val="91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6760" y="91440"/>
            <a:ext cx="3657600" cy="365760"/>
          </a:xfrm>
          <a:prstGeom prst="roundRect">
            <a:avLst/>
          </a:prstGeom>
          <a:solidFill>
            <a:srgbClr val="420A26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F2F2"/>
                </a:solidFill>
              </a:rPr>
              <a:t>SPIN GAMING  | 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2F2"/>
                </a:solidFill>
              </a:rPr>
              <a:t>REFERÊNCIAS DE MERCADO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017520" cy="45720"/>
          </a:xfrm>
          <a:prstGeom prst="rect">
            <a:avLst/>
          </a:prstGeom>
          <a:solidFill>
            <a:srgbClr val="E9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972800" cy="3566160"/>
          </a:xfrm>
          <a:prstGeom prst="roundRect">
            <a:avLst/>
          </a:prstGeom>
          <a:solidFill>
            <a:srgbClr val="26091A"/>
          </a:solidFill>
          <a:ln w="15240">
            <a:solidFill>
              <a:srgbClr val="E92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/>
          <a:lstStyle/>
          <a:p>
            <a:pPr algn="ctr"/>
            <a:r>
              <a:rPr b="1" sz="1600">
                <a:solidFill>
                  <a:srgbClr val="F2F2F2"/>
                </a:solidFill>
              </a:rPr>
              <a:t>Nota metodológica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Dados de mercado utilizados como benchmark de direção estratégica.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Recomendado validar hipóteses com dados internos Blaze durante o piloto.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Optimove iGaming Pulse Report 2025 (US vs Global KPIs).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Optimove - March Madness 2026: retention e qualidade de FTD.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Trueplay reports 2025: impacto de loyalty em retenção, depósitos e NGR.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Soft2Bet: CAC x LTV e eficiência de retenção em iGaming.</a:t>
            </a:r>
          </a:p>
          <a:p>
            <a:pPr>
              <a:defRPr sz="1300">
                <a:solidFill>
                  <a:srgbClr val="BEBEC3"/>
                </a:solidFill>
              </a:defRPr>
            </a:pPr>
            <a:r>
              <a:t>• Bain &amp; Company / The Loyalty Effect: economia da retenção.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